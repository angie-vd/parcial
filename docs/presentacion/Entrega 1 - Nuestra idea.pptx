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embeddedFontLst>
    <p:embeddedFont>
      <p:font typeface="Inter"/>
      <p:bold r:id="rId15"/>
    </p:embeddedFont>
    <p:embeddedFont>
      <p:font typeface="JetBrains Mono"/>
      <p:bold r:id="rId16"/>
    </p:embeddedFont>
    <p:embeddedFont>
      <p:font typeface="Plus Jakarta Sans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37"/>
    <p:restoredTop sz="94690"/>
  </p:normalViewPr>
  <p:slideViewPr>
    <p:cSldViewPr snapToGrid="0" snapToObjects="1">
      <p:cViewPr>
        <p:scale>
          <a:sx n="109" d="100"/>
          <a:sy n="109" d="100"/>
        </p:scale>
        <p:origin x="704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20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.png"/><Relationship Id="rId7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BFE478A1-FCA5-F337-1613-ECEC067F20C7}"/>
              </a:ext>
            </a:extLst>
          </p:cNvPr>
          <p:cNvGrpSpPr/>
          <p:nvPr/>
        </p:nvGrpSpPr>
        <p:grpSpPr>
          <a:xfrm>
            <a:off x="-4" y="14920"/>
            <a:ext cx="12192000" cy="6858000"/>
            <a:chOff x="-4" y="14920"/>
            <a:chExt cx="12192000" cy="6858000"/>
          </a:xfrm>
        </p:grpSpPr>
        <p:pic>
          <p:nvPicPr>
            <p:cNvPr id="40" name="Picture 39" descr="Dollar pattern Images - Free Download on Magnific (formerly Freepik)">
              <a:extLst>
                <a:ext uri="{FF2B5EF4-FFF2-40B4-BE49-F238E27FC236}">
                  <a16:creationId xmlns:a16="http://schemas.microsoft.com/office/drawing/2014/main" id="{0A47D66D-CB28-E978-333B-3DBD533D4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3443920"/>
              <a:ext cx="5805948" cy="3310959"/>
            </a:xfrm>
            <a:prstGeom prst="rect">
              <a:avLst/>
            </a:prstGeom>
          </p:spPr>
        </p:pic>
        <p:pic>
          <p:nvPicPr>
            <p:cNvPr id="33" name="Picture 32" descr="Dollar pattern Images - Free Download on Magnific (formerly Freepik)">
              <a:extLst>
                <a:ext uri="{FF2B5EF4-FFF2-40B4-BE49-F238E27FC236}">
                  <a16:creationId xmlns:a16="http://schemas.microsoft.com/office/drawing/2014/main" id="{FBF92E50-4651-6B62-0D61-34E2E10DC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103121"/>
              <a:ext cx="5805948" cy="3310959"/>
            </a:xfrm>
            <a:prstGeom prst="rect">
              <a:avLst/>
            </a:prstGeom>
          </p:spPr>
        </p:pic>
        <p:pic>
          <p:nvPicPr>
            <p:cNvPr id="38" name="Picture 37" descr="Dollar pattern Images - Free Download on Magnific (formerly Freepik)">
              <a:extLst>
                <a:ext uri="{FF2B5EF4-FFF2-40B4-BE49-F238E27FC236}">
                  <a16:creationId xmlns:a16="http://schemas.microsoft.com/office/drawing/2014/main" id="{F0BA31C2-B97B-83D9-B4D1-252779D42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3443920"/>
              <a:ext cx="5805948" cy="3310959"/>
            </a:xfrm>
            <a:prstGeom prst="rect">
              <a:avLst/>
            </a:prstGeom>
          </p:spPr>
        </p:pic>
        <p:pic>
          <p:nvPicPr>
            <p:cNvPr id="39" name="Picture 38" descr="Dollar pattern Images - Free Download on Magnific (formerly Freepik)">
              <a:extLst>
                <a:ext uri="{FF2B5EF4-FFF2-40B4-BE49-F238E27FC236}">
                  <a16:creationId xmlns:a16="http://schemas.microsoft.com/office/drawing/2014/main" id="{842529C3-0229-E91A-B393-D4C3C5D01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103121"/>
              <a:ext cx="5805948" cy="3310959"/>
            </a:xfrm>
            <a:prstGeom prst="rect">
              <a:avLst/>
            </a:prstGeom>
          </p:spPr>
        </p:pic>
        <p:pic>
          <p:nvPicPr>
            <p:cNvPr id="2" name="Picture 1" descr="image.png"/>
            <p:cNvPicPr>
              <a:picLocks noChangeAspect="1"/>
            </p:cNvPicPr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-4" y="14920"/>
              <a:ext cx="12192000" cy="6858000"/>
            </a:xfrm>
            <a:prstGeom prst="rect">
              <a:avLst/>
            </a:prstGeom>
          </p:spPr>
        </p:pic>
      </p:grpSp>
      <p:sp>
        <p:nvSpPr>
          <p:cNvPr id="3" name="Rectangle 2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F3FBFCD-DCF0-B0BB-248F-9468CCDCD83F}"/>
              </a:ext>
            </a:extLst>
          </p:cNvPr>
          <p:cNvGrpSpPr/>
          <p:nvPr/>
        </p:nvGrpSpPr>
        <p:grpSpPr>
          <a:xfrm>
            <a:off x="5216121" y="2471901"/>
            <a:ext cx="1767406" cy="150041"/>
            <a:chOff x="5134904" y="2447122"/>
            <a:chExt cx="1767406" cy="150041"/>
          </a:xfrm>
        </p:grpSpPr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34904" y="2451311"/>
              <a:ext cx="163859" cy="123825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5289689" y="2447122"/>
              <a:ext cx="1612621" cy="15004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75" b="1" i="0" u="none" dirty="0">
                  <a:solidFill>
                    <a:srgbClr val="10B981"/>
                  </a:solidFill>
                  <a:latin typeface="Plus Jakarta Sans"/>
                </a:rPr>
                <a:t>PROGRAMACIÓN WEB · IF2003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883566" y="2832816"/>
            <a:ext cx="6424865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600" b="1" i="1" u="none" dirty="0">
                <a:solidFill>
                  <a:srgbClr val="FFFFFF"/>
                </a:solidFill>
                <a:latin typeface="Plus Jakarta Sans"/>
              </a:rPr>
              <a:t>Plataforma Web de </a:t>
            </a:r>
            <a:r>
              <a:rPr sz="3600" b="1" i="1" u="none" dirty="0" err="1">
                <a:solidFill>
                  <a:srgbClr val="10B981"/>
                </a:solidFill>
                <a:latin typeface="Plus Jakarta Sans"/>
              </a:rPr>
              <a:t>Finanzas</a:t>
            </a:r>
            <a:r>
              <a:rPr sz="3600" b="1" i="1" u="none" dirty="0">
                <a:solidFill>
                  <a:srgbClr val="10B981"/>
                </a:solidFill>
                <a:latin typeface="Plus Jakarta Sans"/>
              </a:rPr>
              <a:t> </a:t>
            </a:r>
            <a:r>
              <a:rPr sz="3600" b="1" i="1" u="none" dirty="0" err="1">
                <a:solidFill>
                  <a:srgbClr val="10B981"/>
                </a:solidFill>
                <a:latin typeface="Plus Jakarta Sans"/>
              </a:rPr>
              <a:t>Personales</a:t>
            </a:r>
            <a:endParaRPr sz="3600" b="1" i="1" u="none" dirty="0">
              <a:solidFill>
                <a:srgbClr val="10B981"/>
              </a:solidFill>
              <a:latin typeface="Plus Jakarta Sans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548216F-5B1F-929D-8E07-23C70AF63B11}"/>
              </a:ext>
            </a:extLst>
          </p:cNvPr>
          <p:cNvGrpSpPr/>
          <p:nvPr/>
        </p:nvGrpSpPr>
        <p:grpSpPr>
          <a:xfrm>
            <a:off x="1859015" y="4488595"/>
            <a:ext cx="8473965" cy="1275564"/>
            <a:chOff x="1714150" y="4414051"/>
            <a:chExt cx="8473965" cy="127556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6B34C53-E292-EF68-D3D6-0567E53C7D76}"/>
                </a:ext>
              </a:extLst>
            </p:cNvPr>
            <p:cNvGrpSpPr/>
            <p:nvPr/>
          </p:nvGrpSpPr>
          <p:grpSpPr>
            <a:xfrm>
              <a:off x="1714150" y="4414051"/>
              <a:ext cx="8473965" cy="1275564"/>
              <a:chOff x="1859017" y="4897656"/>
              <a:chExt cx="8473965" cy="1275564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1859017" y="4897656"/>
                <a:ext cx="8473965" cy="1275564"/>
              </a:xfrm>
              <a:prstGeom prst="roundRect">
                <a:avLst>
                  <a:gd name="adj" fmla="val 8032"/>
                </a:avLst>
              </a:prstGeom>
              <a:solidFill>
                <a:srgbClr val="161E2E"/>
              </a:solidFill>
              <a:ln w="9525">
                <a:solidFill>
                  <a:srgbClr val="27354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906043" y="4995733"/>
                <a:ext cx="379911" cy="1384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sz="900" b="1" i="0" u="none" dirty="0">
                    <a:solidFill>
                      <a:srgbClr val="64748B"/>
                    </a:solidFill>
                    <a:latin typeface="Inter"/>
                  </a:rPr>
                  <a:t>EQUIPO</a:t>
                </a:r>
                <a:endParaRPr lang="es-419" sz="900" b="1" i="0" u="none" dirty="0">
                  <a:solidFill>
                    <a:srgbClr val="64748B"/>
                  </a:solidFill>
                  <a:latin typeface="Inter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CBE4379-B8D4-FFBD-6AE8-936A3BDBD732}"/>
                </a:ext>
              </a:extLst>
            </p:cNvPr>
            <p:cNvGrpSpPr/>
            <p:nvPr/>
          </p:nvGrpSpPr>
          <p:grpSpPr>
            <a:xfrm>
              <a:off x="2140754" y="4837421"/>
              <a:ext cx="7970046" cy="404912"/>
              <a:chOff x="2140754" y="4837421"/>
              <a:chExt cx="7970046" cy="404912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4938722" y="4837421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22324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7593815" y="4838435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22324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2283629" y="4861333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22324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2140754" y="4861333"/>
                <a:ext cx="66675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200" b="1" i="0" u="none">
                    <a:solidFill>
                      <a:srgbClr val="38BDF8"/>
                    </a:solidFill>
                    <a:latin typeface="Inter"/>
                  </a:rPr>
                  <a:t>MH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4795847" y="4839978"/>
                <a:ext cx="66675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200" b="1" i="0" u="none" dirty="0">
                    <a:solidFill>
                      <a:srgbClr val="34D399"/>
                    </a:solidFill>
                    <a:latin typeface="Inter"/>
                  </a:rPr>
                  <a:t>AV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7450940" y="4839978"/>
                <a:ext cx="66675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200" b="1" i="0" u="none">
                    <a:solidFill>
                      <a:srgbClr val="A78BFA"/>
                    </a:solidFill>
                    <a:latin typeface="Inter"/>
                  </a:rPr>
                  <a:t>AH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2807504" y="4945644"/>
                <a:ext cx="1988343" cy="19050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200" b="1" i="0" u="none" dirty="0">
                    <a:solidFill>
                      <a:srgbClr val="F8FAFC"/>
                    </a:solidFill>
                    <a:latin typeface="Inter"/>
                  </a:rPr>
                  <a:t>Miguel Angel Holguín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5434022" y="4924682"/>
                <a:ext cx="1952625" cy="19050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200" b="1" i="0" u="none" dirty="0">
                    <a:solidFill>
                      <a:srgbClr val="F8FAFC"/>
                    </a:solidFill>
                    <a:latin typeface="Inter"/>
                  </a:rPr>
                  <a:t>Angie Juliana Vargas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8089116" y="4924682"/>
                <a:ext cx="202168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200" b="1" i="0" u="none" dirty="0">
                    <a:solidFill>
                      <a:srgbClr val="F8FAFC"/>
                    </a:solidFill>
                    <a:latin typeface="Inter"/>
                  </a:rPr>
                  <a:t>Ana Sofía Henao Agudelo</a:t>
                </a:r>
              </a:p>
            </p:txBody>
          </p:sp>
        </p:grp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3F453F3-A115-CC6D-5328-14B7D99812AC}"/>
              </a:ext>
            </a:extLst>
          </p:cNvPr>
          <p:cNvCxnSpPr/>
          <p:nvPr/>
        </p:nvCxnSpPr>
        <p:spPr>
          <a:xfrm>
            <a:off x="826137" y="4152900"/>
            <a:ext cx="10629900" cy="0"/>
          </a:xfrm>
          <a:prstGeom prst="line">
            <a:avLst/>
          </a:prstGeom>
          <a:ln>
            <a:solidFill>
              <a:srgbClr val="11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3C84F39B-173C-D12F-CC40-4FEFBC5502E3}"/>
              </a:ext>
            </a:extLst>
          </p:cNvPr>
          <p:cNvGrpSpPr/>
          <p:nvPr/>
        </p:nvGrpSpPr>
        <p:grpSpPr>
          <a:xfrm>
            <a:off x="-4" y="14920"/>
            <a:ext cx="12192000" cy="6858000"/>
            <a:chOff x="-4" y="14920"/>
            <a:chExt cx="12192000" cy="6858000"/>
          </a:xfrm>
        </p:grpSpPr>
        <p:pic>
          <p:nvPicPr>
            <p:cNvPr id="31" name="Picture 30" descr="Dollar pattern Images - Free Download on Magnific (formerly Freepik)">
              <a:extLst>
                <a:ext uri="{FF2B5EF4-FFF2-40B4-BE49-F238E27FC236}">
                  <a16:creationId xmlns:a16="http://schemas.microsoft.com/office/drawing/2014/main" id="{5D8B9CBC-0F65-2089-A1F8-577692C1D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3443920"/>
              <a:ext cx="5805948" cy="3310959"/>
            </a:xfrm>
            <a:prstGeom prst="rect">
              <a:avLst/>
            </a:prstGeom>
          </p:spPr>
        </p:pic>
        <p:pic>
          <p:nvPicPr>
            <p:cNvPr id="32" name="Picture 31" descr="Dollar pattern Images - Free Download on Magnific (formerly Freepik)">
              <a:extLst>
                <a:ext uri="{FF2B5EF4-FFF2-40B4-BE49-F238E27FC236}">
                  <a16:creationId xmlns:a16="http://schemas.microsoft.com/office/drawing/2014/main" id="{E7505101-F5A7-048B-F62C-5663CCABB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103121"/>
              <a:ext cx="5805948" cy="3310959"/>
            </a:xfrm>
            <a:prstGeom prst="rect">
              <a:avLst/>
            </a:prstGeom>
          </p:spPr>
        </p:pic>
        <p:pic>
          <p:nvPicPr>
            <p:cNvPr id="33" name="Picture 32" descr="Dollar pattern Images - Free Download on Magnific (formerly Freepik)">
              <a:extLst>
                <a:ext uri="{FF2B5EF4-FFF2-40B4-BE49-F238E27FC236}">
                  <a16:creationId xmlns:a16="http://schemas.microsoft.com/office/drawing/2014/main" id="{CA80CD72-48D3-FAC3-429E-4BC0CC8C8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3443920"/>
              <a:ext cx="5805948" cy="3310959"/>
            </a:xfrm>
            <a:prstGeom prst="rect">
              <a:avLst/>
            </a:prstGeom>
          </p:spPr>
        </p:pic>
        <p:pic>
          <p:nvPicPr>
            <p:cNvPr id="34" name="Picture 33" descr="Dollar pattern Images - Free Download on Magnific (formerly Freepik)">
              <a:extLst>
                <a:ext uri="{FF2B5EF4-FFF2-40B4-BE49-F238E27FC236}">
                  <a16:creationId xmlns:a16="http://schemas.microsoft.com/office/drawing/2014/main" id="{CEB2CA5E-942C-6148-AB49-AE079E9DE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103121"/>
              <a:ext cx="5805948" cy="3310959"/>
            </a:xfrm>
            <a:prstGeom prst="rect">
              <a:avLst/>
            </a:prstGeom>
          </p:spPr>
        </p:pic>
        <p:pic>
          <p:nvPicPr>
            <p:cNvPr id="35" name="Picture 34" descr="image.png">
              <a:extLst>
                <a:ext uri="{FF2B5EF4-FFF2-40B4-BE49-F238E27FC236}">
                  <a16:creationId xmlns:a16="http://schemas.microsoft.com/office/drawing/2014/main" id="{6B55433A-6AF6-C17A-77E4-70EBF6A7D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-4" y="14920"/>
              <a:ext cx="12192000" cy="6858000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398" y="1872211"/>
            <a:ext cx="5448300" cy="3427901"/>
          </a:xfrm>
          <a:prstGeom prst="roundRect">
            <a:avLst>
              <a:gd name="adj" fmla="val 5343"/>
            </a:avLst>
          </a:prstGeom>
          <a:solidFill>
            <a:srgbClr val="0F172A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298" y="1872211"/>
            <a:ext cx="5448300" cy="3427901"/>
          </a:xfrm>
          <a:prstGeom prst="roundRect">
            <a:avLst>
              <a:gd name="adj" fmla="val 5343"/>
            </a:avLst>
          </a:prstGeom>
          <a:solidFill>
            <a:srgbClr val="0F172A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1523" y="2424662"/>
            <a:ext cx="4972050" cy="45719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48423" y="2424662"/>
            <a:ext cx="4972050" cy="45719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15705" y="825349"/>
            <a:ext cx="1160574" cy="3815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s-419" sz="3600" b="1" i="0" u="none" dirty="0">
                <a:solidFill>
                  <a:srgbClr val="11B981"/>
                </a:solidFill>
                <a:latin typeface="Plus Jakarta Sans"/>
              </a:rPr>
              <a:t>Indice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3" y="2120762"/>
            <a:ext cx="50673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10B981"/>
                </a:solidFill>
                <a:latin typeface="Plus Jakarta Sans"/>
              </a:rPr>
              <a:t>1. Parte No Técnica (Negocio &amp; UX)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3" y="2120762"/>
            <a:ext cx="50673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A855F7"/>
                </a:solidFill>
                <a:latin typeface="Plus Jakarta Sans"/>
              </a:rPr>
              <a:t>2. Parte Técnica (Arquitectura &amp; BD)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3" y="2954745"/>
            <a:ext cx="621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Problema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3" y="3107145"/>
            <a:ext cx="621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Control informal de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finanzas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personales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3" y="3373845"/>
            <a:ext cx="621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Objetivos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3" y="3526245"/>
            <a:ext cx="621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Registrar, consultar, calcular saldo y reportes.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3" y="3792945"/>
            <a:ext cx="621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Alcance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3" y="3945345"/>
            <a:ext cx="621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Límites de desarrollo (incluye vs no incluye).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3" y="4212045"/>
            <a:ext cx="621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Mockup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3" y="4364445"/>
            <a:ext cx="621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Recorrido funcional de usuario y administrador.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425" y="297966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084FC"/>
                </a:solidFill>
                <a:latin typeface="Inter"/>
              </a:rPr>
              <a:t>RF / RNF Principales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5" y="313206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Requerimientos clave y reglas de negocio.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8425" y="339876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084FC"/>
                </a:solidFill>
                <a:latin typeface="Inter"/>
              </a:rPr>
              <a:t>Roles &amp; Seguridad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425" y="355116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Lógica de autenticación y permisos de usuario/admin.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8425" y="381786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084FC"/>
                </a:solidFill>
                <a:latin typeface="Inter"/>
              </a:rPr>
              <a:t>Modelo 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8425" y="397026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Entidades, claves PK/FK y relaciones cardinales.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8425" y="423696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084FC"/>
                </a:solidFill>
                <a:latin typeface="Inter"/>
              </a:rPr>
              <a:t>Restricciones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8425" y="438936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Decisiones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técnicas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implementación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y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repositorio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2EF73767-A597-E8F5-1767-018FF5C2C485}"/>
              </a:ext>
            </a:extLst>
          </p:cNvPr>
          <p:cNvGrpSpPr/>
          <p:nvPr/>
        </p:nvGrpSpPr>
        <p:grpSpPr>
          <a:xfrm>
            <a:off x="-4" y="14920"/>
            <a:ext cx="12192000" cy="6858000"/>
            <a:chOff x="-4" y="14920"/>
            <a:chExt cx="12192000" cy="6858000"/>
          </a:xfrm>
        </p:grpSpPr>
        <p:pic>
          <p:nvPicPr>
            <p:cNvPr id="37" name="Picture 36" descr="Dollar pattern Images - Free Download on Magnific (formerly Freepik)">
              <a:extLst>
                <a:ext uri="{FF2B5EF4-FFF2-40B4-BE49-F238E27FC236}">
                  <a16:creationId xmlns:a16="http://schemas.microsoft.com/office/drawing/2014/main" id="{0C283E27-7DAE-F8DB-8EE8-8B6433473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3443920"/>
              <a:ext cx="5805948" cy="3310959"/>
            </a:xfrm>
            <a:prstGeom prst="rect">
              <a:avLst/>
            </a:prstGeom>
          </p:spPr>
        </p:pic>
        <p:pic>
          <p:nvPicPr>
            <p:cNvPr id="38" name="Picture 37" descr="Dollar pattern Images - Free Download on Magnific (formerly Freepik)">
              <a:extLst>
                <a:ext uri="{FF2B5EF4-FFF2-40B4-BE49-F238E27FC236}">
                  <a16:creationId xmlns:a16="http://schemas.microsoft.com/office/drawing/2014/main" id="{698FE706-5C1D-8C06-624B-13612B44D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103121"/>
              <a:ext cx="5805948" cy="3310959"/>
            </a:xfrm>
            <a:prstGeom prst="rect">
              <a:avLst/>
            </a:prstGeom>
          </p:spPr>
        </p:pic>
        <p:pic>
          <p:nvPicPr>
            <p:cNvPr id="39" name="Picture 38" descr="Dollar pattern Images - Free Download on Magnific (formerly Freepik)">
              <a:extLst>
                <a:ext uri="{FF2B5EF4-FFF2-40B4-BE49-F238E27FC236}">
                  <a16:creationId xmlns:a16="http://schemas.microsoft.com/office/drawing/2014/main" id="{84BA998D-0E78-0BC5-89F0-14A85D495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3443920"/>
              <a:ext cx="5805948" cy="3310959"/>
            </a:xfrm>
            <a:prstGeom prst="rect">
              <a:avLst/>
            </a:prstGeom>
          </p:spPr>
        </p:pic>
        <p:pic>
          <p:nvPicPr>
            <p:cNvPr id="40" name="Picture 39" descr="Dollar pattern Images - Free Download on Magnific (formerly Freepik)">
              <a:extLst>
                <a:ext uri="{FF2B5EF4-FFF2-40B4-BE49-F238E27FC236}">
                  <a16:creationId xmlns:a16="http://schemas.microsoft.com/office/drawing/2014/main" id="{5291BA02-7DDD-A6A4-30DC-910227068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103121"/>
              <a:ext cx="5805948" cy="3310959"/>
            </a:xfrm>
            <a:prstGeom prst="rect">
              <a:avLst/>
            </a:prstGeom>
          </p:spPr>
        </p:pic>
        <p:pic>
          <p:nvPicPr>
            <p:cNvPr id="41" name="Picture 40" descr="image.png">
              <a:extLst>
                <a:ext uri="{FF2B5EF4-FFF2-40B4-BE49-F238E27FC236}">
                  <a16:creationId xmlns:a16="http://schemas.microsoft.com/office/drawing/2014/main" id="{631BB99E-7AF7-B2C1-2B88-82B8D3175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-4" y="14920"/>
              <a:ext cx="12192000" cy="6858000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733675"/>
            <a:ext cx="5143500" cy="2200275"/>
          </a:xfrm>
          <a:prstGeom prst="roundRect">
            <a:avLst>
              <a:gd name="adj" fmla="val 6060"/>
            </a:avLst>
          </a:prstGeom>
          <a:solidFill>
            <a:srgbClr val="161E2E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15100" y="2419350"/>
            <a:ext cx="5143500" cy="2828925"/>
          </a:xfrm>
          <a:prstGeom prst="roundRect">
            <a:avLst>
              <a:gd name="adj" fmla="val 4713"/>
            </a:avLst>
          </a:prstGeom>
          <a:solidFill>
            <a:srgbClr val="161E2E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53225" y="3486150"/>
            <a:ext cx="2276475" cy="781050"/>
          </a:xfrm>
          <a:prstGeom prst="roundRect">
            <a:avLst>
              <a:gd name="adj" fmla="val 9756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0" y="3486150"/>
            <a:ext cx="2276475" cy="781050"/>
          </a:xfrm>
          <a:prstGeom prst="roundRect">
            <a:avLst>
              <a:gd name="adj" fmla="val 9756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53225" y="4381500"/>
            <a:ext cx="2276475" cy="628650"/>
          </a:xfrm>
          <a:prstGeom prst="roundRect">
            <a:avLst>
              <a:gd name="adj" fmla="val 12121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0" y="4381500"/>
            <a:ext cx="2276475" cy="628650"/>
          </a:xfrm>
          <a:prstGeom prst="roundRect">
            <a:avLst>
              <a:gd name="adj" fmla="val 12121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987" y="3719512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95612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225" y="2681287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3371850"/>
            <a:ext cx="10477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3867150"/>
            <a:ext cx="10477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362450"/>
            <a:ext cx="104775" cy="142875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2B5B6857-AB4B-3364-AE14-A706FBD83903}"/>
              </a:ext>
            </a:extLst>
          </p:cNvPr>
          <p:cNvGrpSpPr/>
          <p:nvPr/>
        </p:nvGrpSpPr>
        <p:grpSpPr>
          <a:xfrm rot="16200000">
            <a:off x="-1801489" y="4524375"/>
            <a:ext cx="4164954" cy="152400"/>
            <a:chOff x="533400" y="419100"/>
            <a:chExt cx="4164954" cy="152400"/>
          </a:xfrm>
        </p:grpSpPr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3400" y="433387"/>
              <a:ext cx="154334" cy="123825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763934" y="419100"/>
              <a:ext cx="3934420" cy="152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975" b="1" i="0" u="none" dirty="0">
                  <a:solidFill>
                    <a:srgbClr val="10B981"/>
                  </a:solidFill>
                  <a:latin typeface="Plus Jakarta Sans"/>
                </a:rPr>
                <a:t>PARTE NO TÉCNICA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611772" y="628650"/>
            <a:ext cx="2968440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2250" b="1" i="1" u="none" dirty="0" err="1">
                <a:solidFill>
                  <a:srgbClr val="F8FAFC"/>
                </a:solidFill>
                <a:latin typeface="Plus Jakarta Sans"/>
              </a:rPr>
              <a:t>Problema</a:t>
            </a:r>
            <a:r>
              <a:rPr sz="2250" b="1" i="1" u="none" dirty="0">
                <a:solidFill>
                  <a:srgbClr val="F8FAFC"/>
                </a:solidFill>
                <a:latin typeface="Plus Jakarta Sans"/>
              </a:rPr>
              <a:t> y </a:t>
            </a:r>
            <a:r>
              <a:rPr sz="2250" b="1" i="1" u="none" dirty="0" err="1">
                <a:solidFill>
                  <a:srgbClr val="F8FAFC"/>
                </a:solidFill>
                <a:latin typeface="Plus Jakarta Sans"/>
              </a:rPr>
              <a:t>Oportunidad</a:t>
            </a:r>
            <a:endParaRPr sz="2250" b="1" i="1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8225" y="2971800"/>
            <a:ext cx="5567362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59E0B"/>
                </a:solidFill>
                <a:latin typeface="Plus Jakarta Sans"/>
              </a:rPr>
              <a:t>Situación Actual (ANTES)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9925" y="2657475"/>
            <a:ext cx="517207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0B981"/>
                </a:solidFill>
                <a:latin typeface="Plus Jakarta Sans"/>
              </a:rPr>
              <a:t>Propuesta de Solución (DESPUÉS)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3225" y="2971800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Inter"/>
              </a:rPr>
              <a:t>Centralización completa de la salud financiera personal en una plataforma web intuitiva y segura.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" y="3343275"/>
            <a:ext cx="45624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EF4444"/>
                </a:solidFill>
                <a:latin typeface="Inter"/>
              </a:rPr>
              <a:t>Datos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Dispersos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: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Registros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informales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en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apuntes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físicos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, hojas de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cálculo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o memoria.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550" y="3838575"/>
            <a:ext cx="45624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EF4444"/>
                </a:solidFill>
                <a:latin typeface="Inter"/>
              </a:rPr>
              <a:t>Falta de Control: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Dificultad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para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calcular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saldo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disponible real e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ingresos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consolidados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" y="4333875"/>
            <a:ext cx="45624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Opacidad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de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Gastos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: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Incerteza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sobre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las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categorías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donde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se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concentra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 el mayor </a:t>
            </a:r>
            <a:r>
              <a:rPr sz="1125" b="1" i="0" u="none" dirty="0" err="1">
                <a:solidFill>
                  <a:srgbClr val="EF4444"/>
                </a:solidFill>
                <a:latin typeface="Inter"/>
              </a:rPr>
              <a:t>consumo</a:t>
            </a:r>
            <a:r>
              <a:rPr sz="1125" b="1" i="0" u="none" dirty="0">
                <a:solidFill>
                  <a:srgbClr val="EF4444"/>
                </a:solidFill>
                <a:latin typeface="Inter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6100" y="3629025"/>
            <a:ext cx="24884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Panel Central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6100" y="3819525"/>
            <a:ext cx="20859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Monitoreo de saldo en tiempo real.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6875" y="3629025"/>
            <a:ext cx="24884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4D399"/>
                </a:solidFill>
                <a:latin typeface="Inter"/>
              </a:rPr>
              <a:t>Presupuestos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6875" y="3819525"/>
            <a:ext cx="24884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Límites de gasto por categoría.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6100" y="4524375"/>
            <a:ext cx="24884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BBF24"/>
                </a:solidFill>
                <a:latin typeface="Inter"/>
              </a:rPr>
              <a:t>Reportes Visuales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6100" y="4714875"/>
            <a:ext cx="24884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Gráficos interactivos periódicos.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6875" y="4524375"/>
            <a:ext cx="24884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Acceso por 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6875" y="4714875"/>
            <a:ext cx="24884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Reglas para usuario y admin.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A9E34F3-D55C-07C2-B9F5-0BE59F50DE4C}"/>
              </a:ext>
            </a:extLst>
          </p:cNvPr>
          <p:cNvCxnSpPr/>
          <p:nvPr/>
        </p:nvCxnSpPr>
        <p:spPr>
          <a:xfrm>
            <a:off x="826137" y="1104900"/>
            <a:ext cx="10629900" cy="0"/>
          </a:xfrm>
          <a:prstGeom prst="line">
            <a:avLst/>
          </a:prstGeom>
          <a:ln>
            <a:solidFill>
              <a:srgbClr val="11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5987A7EA-8CCC-A467-A81D-5694E3737C93}"/>
              </a:ext>
            </a:extLst>
          </p:cNvPr>
          <p:cNvGrpSpPr/>
          <p:nvPr/>
        </p:nvGrpSpPr>
        <p:grpSpPr>
          <a:xfrm>
            <a:off x="-4" y="14920"/>
            <a:ext cx="12192000" cy="6858000"/>
            <a:chOff x="-4" y="14920"/>
            <a:chExt cx="12192000" cy="6858000"/>
          </a:xfrm>
        </p:grpSpPr>
        <p:pic>
          <p:nvPicPr>
            <p:cNvPr id="52" name="Picture 51" descr="Dollar pattern Images - Free Download on Magnific (formerly Freepik)">
              <a:extLst>
                <a:ext uri="{FF2B5EF4-FFF2-40B4-BE49-F238E27FC236}">
                  <a16:creationId xmlns:a16="http://schemas.microsoft.com/office/drawing/2014/main" id="{027C49E2-715B-7CAE-382C-A47EBF10B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3443920"/>
              <a:ext cx="5805948" cy="3310959"/>
            </a:xfrm>
            <a:prstGeom prst="rect">
              <a:avLst/>
            </a:prstGeom>
          </p:spPr>
        </p:pic>
        <p:pic>
          <p:nvPicPr>
            <p:cNvPr id="53" name="Picture 52" descr="Dollar pattern Images - Free Download on Magnific (formerly Freepik)">
              <a:extLst>
                <a:ext uri="{FF2B5EF4-FFF2-40B4-BE49-F238E27FC236}">
                  <a16:creationId xmlns:a16="http://schemas.microsoft.com/office/drawing/2014/main" id="{FBB1728A-E995-04A6-92A3-4EDCD938C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103121"/>
              <a:ext cx="5805948" cy="3310959"/>
            </a:xfrm>
            <a:prstGeom prst="rect">
              <a:avLst/>
            </a:prstGeom>
          </p:spPr>
        </p:pic>
        <p:pic>
          <p:nvPicPr>
            <p:cNvPr id="54" name="Picture 53" descr="Dollar pattern Images - Free Download on Magnific (formerly Freepik)">
              <a:extLst>
                <a:ext uri="{FF2B5EF4-FFF2-40B4-BE49-F238E27FC236}">
                  <a16:creationId xmlns:a16="http://schemas.microsoft.com/office/drawing/2014/main" id="{6F866ADE-8E5D-991D-5215-89FB57AB4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3443920"/>
              <a:ext cx="5805948" cy="3310959"/>
            </a:xfrm>
            <a:prstGeom prst="rect">
              <a:avLst/>
            </a:prstGeom>
          </p:spPr>
        </p:pic>
        <p:pic>
          <p:nvPicPr>
            <p:cNvPr id="55" name="Picture 54" descr="Dollar pattern Images - Free Download on Magnific (formerly Freepik)">
              <a:extLst>
                <a:ext uri="{FF2B5EF4-FFF2-40B4-BE49-F238E27FC236}">
                  <a16:creationId xmlns:a16="http://schemas.microsoft.com/office/drawing/2014/main" id="{702E6E10-5D67-4964-6C64-BA925F1FF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103121"/>
              <a:ext cx="5805948" cy="3310959"/>
            </a:xfrm>
            <a:prstGeom prst="rect">
              <a:avLst/>
            </a:prstGeom>
          </p:spPr>
        </p:pic>
        <p:pic>
          <p:nvPicPr>
            <p:cNvPr id="56" name="Picture 55" descr="image.png">
              <a:extLst>
                <a:ext uri="{FF2B5EF4-FFF2-40B4-BE49-F238E27FC236}">
                  <a16:creationId xmlns:a16="http://schemas.microsoft.com/office/drawing/2014/main" id="{A6EE2868-BFE5-FAFC-E8AF-3BD31391E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-4" y="14920"/>
              <a:ext cx="12192000" cy="6858000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157412"/>
            <a:ext cx="5686425" cy="3352800"/>
          </a:xfrm>
          <a:prstGeom prst="roundRect">
            <a:avLst>
              <a:gd name="adj" fmla="val 3977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48425" y="2157412"/>
            <a:ext cx="5210175" cy="1781175"/>
          </a:xfrm>
          <a:prstGeom prst="roundRect">
            <a:avLst>
              <a:gd name="adj" fmla="val 7486"/>
            </a:avLst>
          </a:prstGeom>
          <a:solidFill>
            <a:srgbClr val="161E2E"/>
          </a:solidFill>
          <a:ln w="9525">
            <a:solidFill>
              <a:srgbClr val="0D5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48425" y="4090987"/>
            <a:ext cx="5210175" cy="1419225"/>
          </a:xfrm>
          <a:prstGeom prst="roundRect">
            <a:avLst>
              <a:gd name="adj" fmla="val 9395"/>
            </a:avLst>
          </a:prstGeom>
          <a:solidFill>
            <a:srgbClr val="161E2E"/>
          </a:solidFill>
          <a:ln w="9525">
            <a:solidFill>
              <a:srgbClr val="66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1525" y="2709862"/>
            <a:ext cx="5210175" cy="990600"/>
          </a:xfrm>
          <a:prstGeom prst="roundRect">
            <a:avLst>
              <a:gd name="adj" fmla="val 961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1525" y="2709862"/>
            <a:ext cx="38100" cy="990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86550" y="2690812"/>
            <a:ext cx="2114550" cy="28575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77300" y="2690812"/>
            <a:ext cx="1685925" cy="28575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86550" y="3052762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86750" y="3052762"/>
            <a:ext cx="1743075" cy="28575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86550" y="3414712"/>
            <a:ext cx="1962150" cy="28575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86550" y="4624387"/>
            <a:ext cx="1581150" cy="28575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43900" y="4624387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944100" y="4624387"/>
            <a:ext cx="1114425" cy="28575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86550" y="4986337"/>
            <a:ext cx="1847850" cy="28575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10600" y="4986337"/>
            <a:ext cx="1209675" cy="28575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419350"/>
            <a:ext cx="15240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914775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550" y="2419350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6550" y="4352925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4229100"/>
            <a:ext cx="11430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4486275"/>
            <a:ext cx="11430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4743450"/>
            <a:ext cx="114300" cy="1428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286624" y="628650"/>
            <a:ext cx="3863109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1" u="none" dirty="0" err="1">
                <a:solidFill>
                  <a:srgbClr val="F8FAFC"/>
                </a:solidFill>
                <a:latin typeface="Plus Jakarta Sans"/>
              </a:rPr>
              <a:t>Objetivos</a:t>
            </a:r>
            <a:r>
              <a:rPr sz="2250" b="1" i="1" u="none" dirty="0">
                <a:solidFill>
                  <a:srgbClr val="F8FAFC"/>
                </a:solidFill>
                <a:latin typeface="Plus Jakarta Sans"/>
              </a:rPr>
              <a:t> y </a:t>
            </a:r>
            <a:r>
              <a:rPr sz="2250" b="1" i="1" u="none" dirty="0" err="1">
                <a:solidFill>
                  <a:srgbClr val="F8FAFC"/>
                </a:solidFill>
                <a:latin typeface="Plus Jakarta Sans"/>
              </a:rPr>
              <a:t>Alcance</a:t>
            </a:r>
            <a:r>
              <a:rPr sz="2250" b="1" i="1" u="none" dirty="0">
                <a:solidFill>
                  <a:srgbClr val="F8FAFC"/>
                </a:solidFill>
                <a:latin typeface="Plus Jakarta Sans"/>
              </a:rPr>
              <a:t> del Proyecto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75" y="2395537"/>
            <a:ext cx="6265068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B82F6"/>
                </a:solidFill>
                <a:latin typeface="Plus Jakarta Sans"/>
              </a:rPr>
              <a:t>Objetivo General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925" y="2862262"/>
            <a:ext cx="50006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Desarrollar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una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plataforma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web </a:t>
            </a: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que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permita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registrar, </a:t>
            </a: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organizar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y </a:t>
            </a: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consultar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ingresos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y </a:t>
            </a: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gastos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personales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, </a:t>
            </a: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establecer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presupuestos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y </a:t>
            </a: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visualizar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información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F8FAFC"/>
                </a:solidFill>
                <a:latin typeface="Inter"/>
              </a:rPr>
              <a:t>financiera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175" y="3890962"/>
            <a:ext cx="6265068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Plus Jakarta Sans"/>
              </a:rPr>
              <a:t>Objetivos Específicos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4200" y="2395537"/>
            <a:ext cx="525780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Plus Jakarta Sans"/>
              </a:rPr>
              <a:t>El Proyecto INCLUYE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4200" y="4336791"/>
            <a:ext cx="227664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s-419" sz="1200" b="1" i="0" u="none" dirty="0">
                <a:solidFill>
                  <a:srgbClr val="F87171"/>
                </a:solidFill>
                <a:latin typeface="Plus Jakarta Sans"/>
              </a:rPr>
              <a:t>Por ahora… </a:t>
            </a:r>
            <a:r>
              <a:rPr sz="1200" b="1" i="0" u="none" dirty="0">
                <a:solidFill>
                  <a:srgbClr val="F87171"/>
                </a:solidFill>
                <a:latin typeface="Plus Jakarta Sans"/>
              </a:rPr>
              <a:t>El Proyecto NO INCLUYE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075" y="4205287"/>
            <a:ext cx="63031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Registrar ingresos/gastos con valor, fecha, categoría y descripción.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075" y="4462462"/>
            <a:ext cx="63031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10B981"/>
                </a:solidFill>
                <a:latin typeface="Inter"/>
              </a:rPr>
              <a:t>Consultar</a:t>
            </a:r>
            <a:r>
              <a:rPr sz="1050" b="1" i="0" u="none" dirty="0">
                <a:solidFill>
                  <a:srgbClr val="10B981"/>
                </a:solidFill>
                <a:latin typeface="Inter"/>
              </a:rPr>
              <a:t> </a:t>
            </a:r>
            <a:r>
              <a:rPr sz="1050" b="1" i="0" u="none" dirty="0" err="1">
                <a:solidFill>
                  <a:srgbClr val="10B981"/>
                </a:solidFill>
                <a:latin typeface="Inter"/>
              </a:rPr>
              <a:t>historial</a:t>
            </a:r>
            <a:r>
              <a:rPr sz="1050" b="1" i="0" u="none" dirty="0">
                <a:solidFill>
                  <a:srgbClr val="10B981"/>
                </a:solidFill>
                <a:latin typeface="Inter"/>
              </a:rPr>
              <a:t>, </a:t>
            </a:r>
            <a:r>
              <a:rPr sz="1050" b="1" i="0" u="none" dirty="0" err="1">
                <a:solidFill>
                  <a:srgbClr val="10B981"/>
                </a:solidFill>
                <a:latin typeface="Inter"/>
              </a:rPr>
              <a:t>saldo</a:t>
            </a:r>
            <a:r>
              <a:rPr sz="1050" b="1" i="0" u="none" dirty="0">
                <a:solidFill>
                  <a:srgbClr val="10B981"/>
                </a:solidFill>
                <a:latin typeface="Inter"/>
              </a:rPr>
              <a:t> disponible y </a:t>
            </a:r>
            <a:r>
              <a:rPr sz="1050" b="1" i="0" u="none" dirty="0" err="1">
                <a:solidFill>
                  <a:srgbClr val="10B981"/>
                </a:solidFill>
                <a:latin typeface="Inter"/>
              </a:rPr>
              <a:t>reportes</a:t>
            </a:r>
            <a:r>
              <a:rPr sz="1050" b="1" i="0" u="none" dirty="0">
                <a:solidFill>
                  <a:srgbClr val="10B981"/>
                </a:solidFill>
                <a:latin typeface="Inter"/>
              </a:rPr>
              <a:t> </a:t>
            </a:r>
            <a:r>
              <a:rPr sz="1050" b="1" i="0" u="none" dirty="0" err="1">
                <a:solidFill>
                  <a:srgbClr val="10B981"/>
                </a:solidFill>
                <a:latin typeface="Inter"/>
              </a:rPr>
              <a:t>por</a:t>
            </a:r>
            <a:r>
              <a:rPr sz="1050" b="1" i="0" u="none" dirty="0">
                <a:solidFill>
                  <a:srgbClr val="10B981"/>
                </a:solidFill>
                <a:latin typeface="Inter"/>
              </a:rPr>
              <a:t> </a:t>
            </a:r>
            <a:r>
              <a:rPr sz="1050" b="1" i="0" u="none" dirty="0" err="1">
                <a:solidFill>
                  <a:srgbClr val="10B981"/>
                </a:solidFill>
                <a:latin typeface="Inter"/>
              </a:rPr>
              <a:t>periodo</a:t>
            </a:r>
            <a:r>
              <a:rPr sz="1050" b="1" i="0" u="none" dirty="0">
                <a:solidFill>
                  <a:srgbClr val="10B981"/>
                </a:solidFill>
                <a:latin typeface="Inter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1075" y="4719637"/>
            <a:ext cx="63031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Crear presupuestos por categoría y controlar su avance.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0850" y="2747962"/>
            <a:ext cx="1981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E2E8F0"/>
                </a:solidFill>
                <a:latin typeface="Inter"/>
              </a:rPr>
              <a:t>Autenticación (Login / Registro)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91600" y="2747962"/>
            <a:ext cx="15525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E2E8F0"/>
                </a:solidFill>
                <a:latin typeface="Inter"/>
              </a:rPr>
              <a:t>Gestión de Movimientos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0850" y="3109912"/>
            <a:ext cx="1390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E2E8F0"/>
                </a:solidFill>
                <a:latin typeface="Inter"/>
              </a:rPr>
              <a:t>Dashboard y Gráficos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1050" y="3109912"/>
            <a:ext cx="1609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E2E8F0"/>
                </a:solidFill>
                <a:latin typeface="Inter"/>
              </a:rPr>
              <a:t>Módulo de Presupuestos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00850" y="3471862"/>
            <a:ext cx="1828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E2E8F0"/>
                </a:solidFill>
                <a:latin typeface="Inter"/>
              </a:rPr>
              <a:t>Gestión de Usuarios (Admin)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00850" y="4681537"/>
            <a:ext cx="1447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Conexión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bancaria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4681537"/>
            <a:ext cx="1390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Transferencias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reales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4681537"/>
            <a:ext cx="981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Pagos en línea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00850" y="5043487"/>
            <a:ext cx="1714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Integración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Criptomonedas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24900" y="5043487"/>
            <a:ext cx="10763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App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móvil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nativa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E59BD77-C79B-7C54-26CB-393B17167964}"/>
              </a:ext>
            </a:extLst>
          </p:cNvPr>
          <p:cNvGrpSpPr/>
          <p:nvPr/>
        </p:nvGrpSpPr>
        <p:grpSpPr>
          <a:xfrm rot="16200000">
            <a:off x="-1801489" y="4524375"/>
            <a:ext cx="4164954" cy="152400"/>
            <a:chOff x="533400" y="419100"/>
            <a:chExt cx="4164954" cy="152400"/>
          </a:xfrm>
        </p:grpSpPr>
        <p:pic>
          <p:nvPicPr>
            <p:cNvPr id="49" name="Picture 48" descr="image.png">
              <a:extLst>
                <a:ext uri="{FF2B5EF4-FFF2-40B4-BE49-F238E27FC236}">
                  <a16:creationId xmlns:a16="http://schemas.microsoft.com/office/drawing/2014/main" id="{6C3E4168-D3F1-575C-1F33-0C404FE3A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3400" y="433387"/>
              <a:ext cx="154334" cy="123825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6B8C69A-84F7-BF83-D600-8BE051A847B7}"/>
                </a:ext>
              </a:extLst>
            </p:cNvPr>
            <p:cNvSpPr txBox="1"/>
            <p:nvPr/>
          </p:nvSpPr>
          <p:spPr>
            <a:xfrm>
              <a:off x="763934" y="419100"/>
              <a:ext cx="3934420" cy="152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975" b="1" i="0" u="none" dirty="0">
                  <a:solidFill>
                    <a:srgbClr val="10B981"/>
                  </a:solidFill>
                  <a:latin typeface="Plus Jakarta Sans"/>
                </a:rPr>
                <a:t>PARTE NO TÉCNICA</a:t>
              </a:r>
            </a:p>
          </p:txBody>
        </p: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78CB6BF-83E6-C1DE-9E1D-66D121D1401A}"/>
              </a:ext>
            </a:extLst>
          </p:cNvPr>
          <p:cNvCxnSpPr/>
          <p:nvPr/>
        </p:nvCxnSpPr>
        <p:spPr>
          <a:xfrm>
            <a:off x="826137" y="1104900"/>
            <a:ext cx="10629900" cy="0"/>
          </a:xfrm>
          <a:prstGeom prst="line">
            <a:avLst/>
          </a:prstGeom>
          <a:ln>
            <a:solidFill>
              <a:srgbClr val="11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1EBB87FA-4022-C088-E434-E94A9594639A}"/>
              </a:ext>
            </a:extLst>
          </p:cNvPr>
          <p:cNvGrpSpPr/>
          <p:nvPr/>
        </p:nvGrpSpPr>
        <p:grpSpPr>
          <a:xfrm>
            <a:off x="-4" y="14920"/>
            <a:ext cx="12192000" cy="6858000"/>
            <a:chOff x="-4" y="14920"/>
            <a:chExt cx="12192000" cy="6858000"/>
          </a:xfrm>
        </p:grpSpPr>
        <p:pic>
          <p:nvPicPr>
            <p:cNvPr id="43" name="Picture 42" descr="Dollar pattern Images - Free Download on Magnific (formerly Freepik)">
              <a:extLst>
                <a:ext uri="{FF2B5EF4-FFF2-40B4-BE49-F238E27FC236}">
                  <a16:creationId xmlns:a16="http://schemas.microsoft.com/office/drawing/2014/main" id="{ED4F8DD9-2C81-7EC4-1983-1768974EA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3443920"/>
              <a:ext cx="5805948" cy="3310959"/>
            </a:xfrm>
            <a:prstGeom prst="rect">
              <a:avLst/>
            </a:prstGeom>
          </p:spPr>
        </p:pic>
        <p:pic>
          <p:nvPicPr>
            <p:cNvPr id="44" name="Picture 43" descr="Dollar pattern Images - Free Download on Magnific (formerly Freepik)">
              <a:extLst>
                <a:ext uri="{FF2B5EF4-FFF2-40B4-BE49-F238E27FC236}">
                  <a16:creationId xmlns:a16="http://schemas.microsoft.com/office/drawing/2014/main" id="{8AE5A833-850E-F654-D918-22BFBE873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103121"/>
              <a:ext cx="5805948" cy="3310959"/>
            </a:xfrm>
            <a:prstGeom prst="rect">
              <a:avLst/>
            </a:prstGeom>
          </p:spPr>
        </p:pic>
        <p:pic>
          <p:nvPicPr>
            <p:cNvPr id="45" name="Picture 44" descr="Dollar pattern Images - Free Download on Magnific (formerly Freepik)">
              <a:extLst>
                <a:ext uri="{FF2B5EF4-FFF2-40B4-BE49-F238E27FC236}">
                  <a16:creationId xmlns:a16="http://schemas.microsoft.com/office/drawing/2014/main" id="{0BAFEB90-4DD9-98F5-EC30-269353EB7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3443920"/>
              <a:ext cx="5805948" cy="3310959"/>
            </a:xfrm>
            <a:prstGeom prst="rect">
              <a:avLst/>
            </a:prstGeom>
          </p:spPr>
        </p:pic>
        <p:pic>
          <p:nvPicPr>
            <p:cNvPr id="46" name="Picture 45" descr="Dollar pattern Images - Free Download on Magnific (formerly Freepik)">
              <a:extLst>
                <a:ext uri="{FF2B5EF4-FFF2-40B4-BE49-F238E27FC236}">
                  <a16:creationId xmlns:a16="http://schemas.microsoft.com/office/drawing/2014/main" id="{EFCC8C8B-BAED-16D5-AF9F-6985F964E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103121"/>
              <a:ext cx="5805948" cy="3310959"/>
            </a:xfrm>
            <a:prstGeom prst="rect">
              <a:avLst/>
            </a:prstGeom>
          </p:spPr>
        </p:pic>
        <p:pic>
          <p:nvPicPr>
            <p:cNvPr id="47" name="Picture 46" descr="image.png">
              <a:extLst>
                <a:ext uri="{FF2B5EF4-FFF2-40B4-BE49-F238E27FC236}">
                  <a16:creationId xmlns:a16="http://schemas.microsoft.com/office/drawing/2014/main" id="{C7233487-6B27-0239-E7C5-240A52D5C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-4" y="14920"/>
              <a:ext cx="12192000" cy="6858000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185411"/>
            <a:ext cx="11125200" cy="1038225"/>
          </a:xfrm>
          <a:prstGeom prst="roundRect">
            <a:avLst>
              <a:gd name="adj" fmla="val 11009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3452236"/>
            <a:ext cx="5448300" cy="1762125"/>
          </a:xfrm>
          <a:prstGeom prst="roundRect">
            <a:avLst>
              <a:gd name="adj" fmla="val 7567"/>
            </a:avLst>
          </a:prstGeom>
          <a:solidFill>
            <a:srgbClr val="161E2E"/>
          </a:solidFill>
          <a:ln w="9525">
            <a:solidFill>
              <a:srgbClr val="1E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452236"/>
            <a:ext cx="5448300" cy="1762125"/>
          </a:xfrm>
          <a:prstGeom prst="roundRect">
            <a:avLst>
              <a:gd name="adj" fmla="val 7567"/>
            </a:avLst>
          </a:prstGeom>
          <a:solidFill>
            <a:srgbClr val="161E2E"/>
          </a:solidFill>
          <a:ln w="9525">
            <a:solidFill>
              <a:srgbClr val="4A2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8033" y="2628324"/>
            <a:ext cx="952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894" y="2628324"/>
            <a:ext cx="952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827" y="2404486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501" y="2404486"/>
            <a:ext cx="25717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0512" y="2404486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3714174"/>
            <a:ext cx="1524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3714174"/>
            <a:ext cx="219075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4314249"/>
            <a:ext cx="1143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4571424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4828599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4314249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4571424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4828599"/>
            <a:ext cx="114300" cy="142875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3817554-D900-4BB3-53E7-9CF072D82CE6}"/>
              </a:ext>
            </a:extLst>
          </p:cNvPr>
          <p:cNvGrpSpPr/>
          <p:nvPr/>
        </p:nvGrpSpPr>
        <p:grpSpPr>
          <a:xfrm rot="16200000">
            <a:off x="-2363428" y="3857624"/>
            <a:ext cx="5350742" cy="152400"/>
            <a:chOff x="533400" y="419100"/>
            <a:chExt cx="5350742" cy="152400"/>
          </a:xfrm>
        </p:grpSpPr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33400" y="433387"/>
              <a:ext cx="135284" cy="123825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744884" y="419100"/>
              <a:ext cx="5139258" cy="152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975" b="1" i="0" u="none" dirty="0">
                  <a:solidFill>
                    <a:srgbClr val="10B981"/>
                  </a:solidFill>
                  <a:latin typeface="Plus Jakarta Sans"/>
                </a:rPr>
                <a:t>PARTE TÉCNICA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082943" y="611013"/>
            <a:ext cx="3797513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2250" b="1" i="1" u="none" dirty="0">
                <a:solidFill>
                  <a:srgbClr val="F8FAFC"/>
                </a:solidFill>
                <a:latin typeface="Plus Jakarta Sans"/>
              </a:rPr>
              <a:t>Roles, </a:t>
            </a:r>
            <a:r>
              <a:rPr sz="2250" b="1" i="1" u="none" dirty="0" err="1">
                <a:solidFill>
                  <a:srgbClr val="F8FAFC"/>
                </a:solidFill>
                <a:latin typeface="Plus Jakarta Sans"/>
              </a:rPr>
              <a:t>Permisos</a:t>
            </a:r>
            <a:r>
              <a:rPr sz="2250" b="1" i="1" u="none" dirty="0">
                <a:solidFill>
                  <a:srgbClr val="F8FAFC"/>
                </a:solidFill>
                <a:latin typeface="Plus Jakarta Sans"/>
              </a:rPr>
              <a:t> y </a:t>
            </a:r>
            <a:r>
              <a:rPr sz="2250" b="1" i="1" u="none" dirty="0" err="1">
                <a:solidFill>
                  <a:srgbClr val="F8FAFC"/>
                </a:solidFill>
                <a:latin typeface="Plus Jakarta Sans"/>
              </a:rPr>
              <a:t>Autenticación</a:t>
            </a:r>
            <a:endParaRPr sz="2250" b="1" i="1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07752" y="2718811"/>
            <a:ext cx="1428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Inter"/>
              </a:rPr>
              <a:t>1. 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752" y="2880736"/>
            <a:ext cx="14287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Correo + Contraseña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4813" y="2718811"/>
            <a:ext cx="13525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Inter"/>
              </a:rPr>
              <a:t>2. Identificación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4813" y="2880736"/>
            <a:ext cx="13525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Rol Usuario /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4483" y="2718811"/>
            <a:ext cx="14406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Inter"/>
              </a:rPr>
              <a:t>3. Habilitación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4483" y="2880736"/>
            <a:ext cx="14406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Funciones permitidas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75" y="3690361"/>
            <a:ext cx="5967412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B82F6"/>
                </a:solidFill>
                <a:latin typeface="Plus Jakarta Sans"/>
              </a:rPr>
              <a:t>Rol: Usuario 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525" y="4004686"/>
            <a:ext cx="6215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Acceso exclusivo a su gestión financiera individual.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2750" y="3690361"/>
            <a:ext cx="5429250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A855F7"/>
                </a:solidFill>
                <a:latin typeface="Plus Jakarta Sans"/>
              </a:rPr>
              <a:t>Rol: Administrador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8425" y="4004686"/>
            <a:ext cx="57435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Supervisión global de la plataforma y gobierno de usuarios.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025" y="4299961"/>
            <a:ext cx="6024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Inter"/>
              </a:rPr>
              <a:t>Registrar y editar sus ingresos y gastos.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025" y="4557136"/>
            <a:ext cx="6024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Inter"/>
              </a:rPr>
              <a:t>Crear categorías personalizadas y presupuestos.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025" y="4814311"/>
            <a:ext cx="6024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Inter"/>
              </a:rPr>
              <a:t>Consultar saldo disponible y reportes gráficos.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925" y="4299961"/>
            <a:ext cx="55530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Inter"/>
              </a:rPr>
              <a:t>Consultar lista general de usuarios registrados.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8925" y="4557136"/>
            <a:ext cx="55530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Inter"/>
              </a:rPr>
              <a:t>Crear y editar cuentas de usuario en el sistema.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925" y="4814311"/>
            <a:ext cx="55530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Inter"/>
              </a:rPr>
              <a:t>Desactivar cuentas de usuario y revisar logs.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0C73B84-8153-9C75-C6E3-8F18BACC0957}"/>
              </a:ext>
            </a:extLst>
          </p:cNvPr>
          <p:cNvCxnSpPr/>
          <p:nvPr/>
        </p:nvCxnSpPr>
        <p:spPr>
          <a:xfrm>
            <a:off x="826137" y="1104900"/>
            <a:ext cx="10629900" cy="0"/>
          </a:xfrm>
          <a:prstGeom prst="line">
            <a:avLst/>
          </a:prstGeom>
          <a:ln>
            <a:solidFill>
              <a:srgbClr val="11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72EDEA88-6F00-33BD-6741-8A8CE19C5902}"/>
              </a:ext>
            </a:extLst>
          </p:cNvPr>
          <p:cNvGrpSpPr/>
          <p:nvPr/>
        </p:nvGrpSpPr>
        <p:grpSpPr>
          <a:xfrm>
            <a:off x="-4" y="14920"/>
            <a:ext cx="12192000" cy="6858000"/>
            <a:chOff x="-4" y="14920"/>
            <a:chExt cx="12192000" cy="6858000"/>
          </a:xfrm>
        </p:grpSpPr>
        <p:pic>
          <p:nvPicPr>
            <p:cNvPr id="47" name="Picture 46" descr="Dollar pattern Images - Free Download on Magnific (formerly Freepik)">
              <a:extLst>
                <a:ext uri="{FF2B5EF4-FFF2-40B4-BE49-F238E27FC236}">
                  <a16:creationId xmlns:a16="http://schemas.microsoft.com/office/drawing/2014/main" id="{4B6CFE7D-565F-1B17-A930-2818A66C1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3443920"/>
              <a:ext cx="5805948" cy="3310959"/>
            </a:xfrm>
            <a:prstGeom prst="rect">
              <a:avLst/>
            </a:prstGeom>
          </p:spPr>
        </p:pic>
        <p:pic>
          <p:nvPicPr>
            <p:cNvPr id="48" name="Picture 47" descr="Dollar pattern Images - Free Download on Magnific (formerly Freepik)">
              <a:extLst>
                <a:ext uri="{FF2B5EF4-FFF2-40B4-BE49-F238E27FC236}">
                  <a16:creationId xmlns:a16="http://schemas.microsoft.com/office/drawing/2014/main" id="{CC4AB4AD-2BE6-5C59-7279-55C22D741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103121"/>
              <a:ext cx="5805948" cy="3310959"/>
            </a:xfrm>
            <a:prstGeom prst="rect">
              <a:avLst/>
            </a:prstGeom>
          </p:spPr>
        </p:pic>
        <p:pic>
          <p:nvPicPr>
            <p:cNvPr id="49" name="Picture 48" descr="Dollar pattern Images - Free Download on Magnific (formerly Freepik)">
              <a:extLst>
                <a:ext uri="{FF2B5EF4-FFF2-40B4-BE49-F238E27FC236}">
                  <a16:creationId xmlns:a16="http://schemas.microsoft.com/office/drawing/2014/main" id="{95156557-BB8E-2184-59C8-3108F3E98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3443920"/>
              <a:ext cx="5805948" cy="3310959"/>
            </a:xfrm>
            <a:prstGeom prst="rect">
              <a:avLst/>
            </a:prstGeom>
          </p:spPr>
        </p:pic>
        <p:pic>
          <p:nvPicPr>
            <p:cNvPr id="50" name="Picture 49" descr="Dollar pattern Images - Free Download on Magnific (formerly Freepik)">
              <a:extLst>
                <a:ext uri="{FF2B5EF4-FFF2-40B4-BE49-F238E27FC236}">
                  <a16:creationId xmlns:a16="http://schemas.microsoft.com/office/drawing/2014/main" id="{3E06DBD1-2602-14FF-F09A-D86289F1B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103121"/>
              <a:ext cx="5805948" cy="3310959"/>
            </a:xfrm>
            <a:prstGeom prst="rect">
              <a:avLst/>
            </a:prstGeom>
          </p:spPr>
        </p:pic>
        <p:pic>
          <p:nvPicPr>
            <p:cNvPr id="51" name="Picture 50" descr="image.png">
              <a:extLst>
                <a:ext uri="{FF2B5EF4-FFF2-40B4-BE49-F238E27FC236}">
                  <a16:creationId xmlns:a16="http://schemas.microsoft.com/office/drawing/2014/main" id="{AF8B5C74-BFD5-F151-4FDC-1B9E5F7EA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-4" y="14920"/>
              <a:ext cx="12192000" cy="6858000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710434" y="3024187"/>
            <a:ext cx="4771132" cy="666750"/>
          </a:xfrm>
          <a:prstGeom prst="roundRect">
            <a:avLst>
              <a:gd name="adj" fmla="val 14285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3710434" y="3824287"/>
            <a:ext cx="4771132" cy="666750"/>
          </a:xfrm>
          <a:prstGeom prst="roundRect">
            <a:avLst>
              <a:gd name="adj" fmla="val 14285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3710434" y="4624387"/>
            <a:ext cx="4771132" cy="666750"/>
          </a:xfrm>
          <a:prstGeom prst="roundRect">
            <a:avLst>
              <a:gd name="adj" fmla="val 14285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ounded Rectangle 11"/>
          <p:cNvSpPr/>
          <p:nvPr/>
        </p:nvSpPr>
        <p:spPr>
          <a:xfrm>
            <a:off x="3872359" y="318611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ounded Rectangle 12"/>
          <p:cNvSpPr/>
          <p:nvPr/>
        </p:nvSpPr>
        <p:spPr>
          <a:xfrm>
            <a:off x="3872359" y="398621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ounded Rectangle 13"/>
          <p:cNvSpPr/>
          <p:nvPr/>
        </p:nvSpPr>
        <p:spPr>
          <a:xfrm>
            <a:off x="3872359" y="478631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33387"/>
            <a:ext cx="154334" cy="1238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3934" y="419100"/>
            <a:ext cx="641092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 dirty="0">
                <a:solidFill>
                  <a:srgbClr val="10B981"/>
                </a:solidFill>
                <a:latin typeface="Plus Jakarta Sans"/>
              </a:rPr>
              <a:t>MOCKUP INTERFAZ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721257"/>
            <a:ext cx="8226426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700"/>
              </a:lnSpc>
            </a:pPr>
            <a:r>
              <a:rPr sz="2250" b="1" i="1" u="none" dirty="0" err="1">
                <a:solidFill>
                  <a:srgbClr val="F8FAFC"/>
                </a:solidFill>
                <a:latin typeface="Plus Jakarta Sans"/>
              </a:rPr>
              <a:t>Recorrido</a:t>
            </a:r>
            <a:r>
              <a:rPr lang="es-419" sz="2250" b="1" i="1" dirty="0">
                <a:solidFill>
                  <a:srgbClr val="F8FAFC"/>
                </a:solidFill>
                <a:latin typeface="Plus Jakarta Sans"/>
              </a:rPr>
              <a:t> del</a:t>
            </a:r>
            <a:r>
              <a:rPr sz="2250" b="1" i="1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2250" b="1" i="1" u="none" dirty="0" err="1">
                <a:solidFill>
                  <a:srgbClr val="F8FAFC"/>
                </a:solidFill>
                <a:latin typeface="Plus Jakarta Sans"/>
              </a:rPr>
              <a:t>Usuario</a:t>
            </a:r>
            <a:r>
              <a:rPr sz="2250" b="1" i="1" u="none" dirty="0">
                <a:solidFill>
                  <a:srgbClr val="F8FAFC"/>
                </a:solidFill>
                <a:latin typeface="Plus Jakarta Sans"/>
              </a:rPr>
              <a:t>: </a:t>
            </a:r>
            <a:r>
              <a:rPr sz="2250" b="1" i="1" u="none" dirty="0" err="1">
                <a:solidFill>
                  <a:srgbClr val="F8FAFC"/>
                </a:solidFill>
                <a:latin typeface="Plus Jakarta Sans"/>
              </a:rPr>
              <a:t>Acceso</a:t>
            </a:r>
            <a:r>
              <a:rPr sz="2250" b="1" i="1" u="none" dirty="0">
                <a:solidFill>
                  <a:srgbClr val="F8FAFC"/>
                </a:solidFill>
                <a:latin typeface="Plus Jakarta Sans"/>
              </a:rPr>
              <a:t> y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1189516"/>
            <a:ext cx="486638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El </a:t>
            </a:r>
            <a:r>
              <a:rPr sz="1400" b="0" i="0" u="none" dirty="0" err="1">
                <a:solidFill>
                  <a:srgbClr val="CBD5E1"/>
                </a:solidFill>
                <a:latin typeface="Inter"/>
              </a:rPr>
              <a:t>usuario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Inter"/>
              </a:rPr>
              <a:t>ingresa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al </a:t>
            </a:r>
            <a:r>
              <a:rPr sz="1400" b="0" i="0" u="none" dirty="0" err="1">
                <a:solidFill>
                  <a:srgbClr val="CBD5E1"/>
                </a:solidFill>
                <a:latin typeface="Inter"/>
              </a:rPr>
              <a:t>sistema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Inter"/>
              </a:rPr>
              <a:t>mediante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sus </a:t>
            </a:r>
            <a:r>
              <a:rPr sz="1400" b="0" i="0" u="none" dirty="0" err="1">
                <a:solidFill>
                  <a:srgbClr val="CBD5E1"/>
                </a:solidFill>
                <a:latin typeface="Inter"/>
              </a:rPr>
              <a:t>credenciales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, accede a </a:t>
            </a:r>
            <a:r>
              <a:rPr sz="1400" b="0" i="0" u="none" dirty="0" err="1">
                <a:solidFill>
                  <a:srgbClr val="CBD5E1"/>
                </a:solidFill>
                <a:latin typeface="Inter"/>
              </a:rPr>
              <a:t>su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panel </a:t>
            </a:r>
            <a:r>
              <a:rPr sz="1400" b="0" i="0" u="none" dirty="0" err="1">
                <a:solidFill>
                  <a:srgbClr val="CBD5E1"/>
                </a:solidFill>
                <a:latin typeface="Inter"/>
              </a:rPr>
              <a:t>financiero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Inter"/>
              </a:rPr>
              <a:t>consolidado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y </a:t>
            </a:r>
            <a:r>
              <a:rPr sz="1400" b="0" i="0" u="none" dirty="0" err="1">
                <a:solidFill>
                  <a:srgbClr val="CBD5E1"/>
                </a:solidFill>
                <a:latin typeface="Inter"/>
              </a:rPr>
              <a:t>visualiza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Inter"/>
              </a:rPr>
              <a:t>indicadores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clave.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9484" y="3249840"/>
            <a:ext cx="62865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60A5FA"/>
                </a:solidFill>
                <a:latin typeface="Inter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9484" y="4049940"/>
            <a:ext cx="62865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34D399"/>
                </a:solidFill>
                <a:latin typeface="Inter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9484" y="4850040"/>
            <a:ext cx="62865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FBBF24"/>
                </a:solidFill>
                <a:latin typeface="Inter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8609" y="3190875"/>
            <a:ext cx="16965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Inicio de Sesión &amp; Registro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8609" y="3371850"/>
            <a:ext cx="2595262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64748B"/>
                </a:solidFill>
                <a:latin typeface="Inter"/>
              </a:rPr>
              <a:t>Formulario seguro con validación de credenciales.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8609" y="3990975"/>
            <a:ext cx="118917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Dashboard Central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8609" y="4171950"/>
            <a:ext cx="2858155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64748B"/>
                </a:solidFill>
                <a:latin typeface="Inter"/>
              </a:rPr>
              <a:t>Saldo disponible, total ingresos, gastos y presupuestos.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8609" y="4791075"/>
            <a:ext cx="91210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Análisis Visual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8609" y="4972050"/>
            <a:ext cx="2941511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64748B"/>
                </a:solidFill>
                <a:latin typeface="Inter"/>
              </a:rPr>
              <a:t>Gráfico comparativo de ingresos vs gastos y distribución.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D26B3C77-2716-9F0A-4F4E-621CBE7CBD4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-4" y="14920"/>
            <a:chExt cx="12192000" cy="6858000"/>
          </a:xfrm>
        </p:grpSpPr>
        <p:pic>
          <p:nvPicPr>
            <p:cNvPr id="31" name="Picture 30" descr="Dollar pattern Images - Free Download on Magnific (formerly Freepik)">
              <a:extLst>
                <a:ext uri="{FF2B5EF4-FFF2-40B4-BE49-F238E27FC236}">
                  <a16:creationId xmlns:a16="http://schemas.microsoft.com/office/drawing/2014/main" id="{3BF0BF97-C087-58BD-C152-207B9C3E9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3443920"/>
              <a:ext cx="5805948" cy="3310959"/>
            </a:xfrm>
            <a:prstGeom prst="rect">
              <a:avLst/>
            </a:prstGeom>
          </p:spPr>
        </p:pic>
        <p:pic>
          <p:nvPicPr>
            <p:cNvPr id="32" name="Picture 31" descr="Dollar pattern Images - Free Download on Magnific (formerly Freepik)">
              <a:extLst>
                <a:ext uri="{FF2B5EF4-FFF2-40B4-BE49-F238E27FC236}">
                  <a16:creationId xmlns:a16="http://schemas.microsoft.com/office/drawing/2014/main" id="{E779EFA8-D328-7979-71A9-E7C1376CB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103121"/>
              <a:ext cx="5805948" cy="3310959"/>
            </a:xfrm>
            <a:prstGeom prst="rect">
              <a:avLst/>
            </a:prstGeom>
          </p:spPr>
        </p:pic>
        <p:pic>
          <p:nvPicPr>
            <p:cNvPr id="33" name="Picture 32" descr="Dollar pattern Images - Free Download on Magnific (formerly Freepik)">
              <a:extLst>
                <a:ext uri="{FF2B5EF4-FFF2-40B4-BE49-F238E27FC236}">
                  <a16:creationId xmlns:a16="http://schemas.microsoft.com/office/drawing/2014/main" id="{485CEEE5-C902-B56A-20EC-3C4E23B04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3443920"/>
              <a:ext cx="5805948" cy="3310959"/>
            </a:xfrm>
            <a:prstGeom prst="rect">
              <a:avLst/>
            </a:prstGeom>
          </p:spPr>
        </p:pic>
        <p:pic>
          <p:nvPicPr>
            <p:cNvPr id="34" name="Picture 33" descr="Dollar pattern Images - Free Download on Magnific (formerly Freepik)">
              <a:extLst>
                <a:ext uri="{FF2B5EF4-FFF2-40B4-BE49-F238E27FC236}">
                  <a16:creationId xmlns:a16="http://schemas.microsoft.com/office/drawing/2014/main" id="{9DC5259A-CA75-A3CF-0DFA-16B6F111A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103121"/>
              <a:ext cx="5805948" cy="3310959"/>
            </a:xfrm>
            <a:prstGeom prst="rect">
              <a:avLst/>
            </a:prstGeom>
          </p:spPr>
        </p:pic>
        <p:pic>
          <p:nvPicPr>
            <p:cNvPr id="35" name="Picture 34" descr="image.png">
              <a:extLst>
                <a:ext uri="{FF2B5EF4-FFF2-40B4-BE49-F238E27FC236}">
                  <a16:creationId xmlns:a16="http://schemas.microsoft.com/office/drawing/2014/main" id="{93EDB032-B2E0-0CA5-0EF0-85DF86908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-4" y="14920"/>
              <a:ext cx="12192000" cy="6858000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904367"/>
            <a:ext cx="5467350" cy="2043101"/>
          </a:xfrm>
          <a:prstGeom prst="roundRect">
            <a:avLst>
              <a:gd name="adj" fmla="val 11111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904367"/>
            <a:ext cx="5467350" cy="2043101"/>
          </a:xfrm>
          <a:prstGeom prst="roundRect">
            <a:avLst>
              <a:gd name="adj" fmla="val 11111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4185594"/>
            <a:ext cx="5467350" cy="2043101"/>
          </a:xfrm>
          <a:prstGeom prst="roundRect">
            <a:avLst>
              <a:gd name="adj" fmla="val 11111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4185594"/>
            <a:ext cx="5467350" cy="2043101"/>
          </a:xfrm>
          <a:prstGeom prst="roundRect">
            <a:avLst>
              <a:gd name="adj" fmla="val 11111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8233" y="452389"/>
            <a:ext cx="116234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1487" y="2495550"/>
            <a:ext cx="85725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0662" y="2495550"/>
            <a:ext cx="85725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1812" y="2495550"/>
            <a:ext cx="8572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8137" y="2495550"/>
            <a:ext cx="85725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166304"/>
            <a:ext cx="114300" cy="25944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2166304"/>
            <a:ext cx="152400" cy="259441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4447531"/>
            <a:ext cx="171450" cy="25944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4426" y="4396810"/>
            <a:ext cx="152400" cy="2594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80667" y="438102"/>
            <a:ext cx="5127426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 dirty="0">
                <a:solidFill>
                  <a:srgbClr val="10B981"/>
                </a:solidFill>
                <a:latin typeface="Plus Jakarta Sans"/>
              </a:rPr>
              <a:t>MOCKUP INTERFAZ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3767" y="644760"/>
            <a:ext cx="9754833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700"/>
              </a:lnSpc>
            </a:pPr>
            <a:r>
              <a:rPr sz="2250" b="1" i="0" u="none" dirty="0" err="1">
                <a:solidFill>
                  <a:srgbClr val="F8FAFC"/>
                </a:solidFill>
                <a:latin typeface="Plus Jakarta Sans"/>
              </a:rPr>
              <a:t>Pantallas</a:t>
            </a:r>
            <a:r>
              <a:rPr sz="22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2250" b="1" i="0" u="none" dirty="0" err="1">
                <a:solidFill>
                  <a:srgbClr val="F8FAFC"/>
                </a:solidFill>
                <a:latin typeface="Plus Jakarta Sans"/>
              </a:rPr>
              <a:t>Operativas</a:t>
            </a:r>
            <a:r>
              <a:rPr sz="2250" b="1" i="0" u="none" dirty="0">
                <a:solidFill>
                  <a:srgbClr val="F8FAFC"/>
                </a:solidFill>
                <a:latin typeface="Plus Jakarta Sans"/>
              </a:rPr>
              <a:t> del </a:t>
            </a:r>
            <a:r>
              <a:rPr sz="2250" b="1" i="0" u="none" dirty="0" err="1">
                <a:solidFill>
                  <a:srgbClr val="F8FAFC"/>
                </a:solidFill>
                <a:latin typeface="Plus Jakarta Sans"/>
              </a:rPr>
              <a:t>Usuario</a:t>
            </a:r>
            <a:endParaRPr sz="225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1075" y="2142493"/>
            <a:ext cx="60293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Plus Jakarta Sans"/>
              </a:rPr>
              <a:t>04. Movimientos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2437768"/>
            <a:ext cx="5086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Historial detallado de transacciones con filtros avanzados por fecha, categoría y tipo. Exportación en CSV.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7025" y="2142493"/>
            <a:ext cx="55149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Plus Jakarta Sans"/>
              </a:rPr>
              <a:t>05. Registrar Movimiento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375" y="2437768"/>
            <a:ext cx="5086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Formulario dinámico para ingreso o gasto con selección de fecha, categoría, cuenta y adjunto opcional.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225" y="4423720"/>
            <a:ext cx="59721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59E0B"/>
                </a:solidFill>
                <a:latin typeface="Plus Jakarta Sans"/>
              </a:rPr>
              <a:t>06. Presupuestos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525" y="4718995"/>
            <a:ext cx="5086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Configuración de límites de gasto por categoría con barra de avance y alertas de consumo crítico.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7025" y="4423720"/>
            <a:ext cx="55149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A855F7"/>
                </a:solidFill>
                <a:latin typeface="Plus Jakarta Sans"/>
              </a:rPr>
              <a:t>07. Reportes Financieros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9375" y="4718995"/>
            <a:ext cx="5086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Análisis gráfico comparativo de tendencias, ingresos vs gastos acumulados y top de erogaciones.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EB21FB82-9027-C880-C905-01427EA05D4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-4" y="14920"/>
            <a:chExt cx="12192000" cy="6858000"/>
          </a:xfrm>
        </p:grpSpPr>
        <p:pic>
          <p:nvPicPr>
            <p:cNvPr id="39" name="Picture 38" descr="Dollar pattern Images - Free Download on Magnific (formerly Freepik)">
              <a:extLst>
                <a:ext uri="{FF2B5EF4-FFF2-40B4-BE49-F238E27FC236}">
                  <a16:creationId xmlns:a16="http://schemas.microsoft.com/office/drawing/2014/main" id="{B382EDDF-F901-55FD-ED68-31982C85D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3443920"/>
              <a:ext cx="5805948" cy="3310959"/>
            </a:xfrm>
            <a:prstGeom prst="rect">
              <a:avLst/>
            </a:prstGeom>
          </p:spPr>
        </p:pic>
        <p:pic>
          <p:nvPicPr>
            <p:cNvPr id="40" name="Picture 39" descr="Dollar pattern Images - Free Download on Magnific (formerly Freepik)">
              <a:extLst>
                <a:ext uri="{FF2B5EF4-FFF2-40B4-BE49-F238E27FC236}">
                  <a16:creationId xmlns:a16="http://schemas.microsoft.com/office/drawing/2014/main" id="{21DDDB30-5133-F132-8057-A24BF2406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103121"/>
              <a:ext cx="5805948" cy="3310959"/>
            </a:xfrm>
            <a:prstGeom prst="rect">
              <a:avLst/>
            </a:prstGeom>
          </p:spPr>
        </p:pic>
        <p:pic>
          <p:nvPicPr>
            <p:cNvPr id="41" name="Picture 40" descr="Dollar pattern Images - Free Download on Magnific (formerly Freepik)">
              <a:extLst>
                <a:ext uri="{FF2B5EF4-FFF2-40B4-BE49-F238E27FC236}">
                  <a16:creationId xmlns:a16="http://schemas.microsoft.com/office/drawing/2014/main" id="{5779DA2F-036D-A9F7-CE23-99B068E4C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3443920"/>
              <a:ext cx="5805948" cy="3310959"/>
            </a:xfrm>
            <a:prstGeom prst="rect">
              <a:avLst/>
            </a:prstGeom>
          </p:spPr>
        </p:pic>
        <p:pic>
          <p:nvPicPr>
            <p:cNvPr id="42" name="Picture 41" descr="Dollar pattern Images - Free Download on Magnific (formerly Freepik)">
              <a:extLst>
                <a:ext uri="{FF2B5EF4-FFF2-40B4-BE49-F238E27FC236}">
                  <a16:creationId xmlns:a16="http://schemas.microsoft.com/office/drawing/2014/main" id="{A1AE9D64-477A-1F54-2068-0CBBAA07B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103121"/>
              <a:ext cx="5805948" cy="3310959"/>
            </a:xfrm>
            <a:prstGeom prst="rect">
              <a:avLst/>
            </a:prstGeom>
          </p:spPr>
        </p:pic>
        <p:pic>
          <p:nvPicPr>
            <p:cNvPr id="43" name="Picture 42" descr="image.png">
              <a:extLst>
                <a:ext uri="{FF2B5EF4-FFF2-40B4-BE49-F238E27FC236}">
                  <a16:creationId xmlns:a16="http://schemas.microsoft.com/office/drawing/2014/main" id="{AF86237A-907F-AB62-8BF1-0A210C18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-4" y="14920"/>
              <a:ext cx="12192000" cy="6858000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9593" y="2466975"/>
            <a:ext cx="4771132" cy="1800225"/>
          </a:xfrm>
          <a:prstGeom prst="roundRect">
            <a:avLst>
              <a:gd name="adj" fmla="val 7407"/>
            </a:avLst>
          </a:prstGeom>
          <a:solidFill>
            <a:srgbClr val="161E2E"/>
          </a:solidFill>
          <a:ln w="9525">
            <a:solidFill>
              <a:srgbClr val="4A2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9593" y="4419600"/>
            <a:ext cx="4771132" cy="781050"/>
          </a:xfrm>
          <a:prstGeom prst="roundRect">
            <a:avLst>
              <a:gd name="adj" fmla="val 12195"/>
            </a:avLst>
          </a:prstGeom>
          <a:solidFill>
            <a:srgbClr val="22141D"/>
          </a:solidFill>
          <a:ln w="9525">
            <a:solidFill>
              <a:srgbClr val="4F1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33387"/>
            <a:ext cx="163859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718" y="2728912"/>
            <a:ext cx="21907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2468" y="4581525"/>
            <a:ext cx="12382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7718" y="3062287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7718" y="3338512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7718" y="3614737"/>
            <a:ext cx="1143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7718" y="3890962"/>
            <a:ext cx="114300" cy="1428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3459" y="419100"/>
            <a:ext cx="4508301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10B981"/>
                </a:solidFill>
                <a:latin typeface="Plus Jakarta Sans"/>
              </a:rPr>
              <a:t>MOCKUP INTERFAZ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28650"/>
            <a:ext cx="4985779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8FAFC"/>
                </a:solidFill>
                <a:latin typeface="Plus Jakarta Sans"/>
              </a:rPr>
              <a:t>Recorrido del Administrador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82043" y="2705100"/>
            <a:ext cx="5054277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A855F7"/>
                </a:solidFill>
                <a:latin typeface="Plus Jakarta Sans"/>
              </a:rPr>
              <a:t>Funciones Principales de 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275" y="4562475"/>
            <a:ext cx="5606727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Inter"/>
              </a:rPr>
              <a:t>Regla Clave de Negocio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2468" y="4752975"/>
            <a:ext cx="458063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Las funciones de administración solo están disponibles para cuentas autenticadas con rol exclusivo de Administrador.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77268" y="3038475"/>
            <a:ext cx="515905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855F7"/>
                </a:solidFill>
                <a:latin typeface="Inter"/>
              </a:rPr>
              <a:t>Gestión de Sesión: Iniciar y cerrar sesión de manera segura.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7268" y="3314700"/>
            <a:ext cx="515905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855F7"/>
                </a:solidFill>
                <a:latin typeface="Inter"/>
              </a:rPr>
              <a:t>Consulta de Usuarios: Ver listado con estado y rol asignado.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7268" y="3590925"/>
            <a:ext cx="515905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A855F7"/>
                </a:solidFill>
                <a:latin typeface="Inter"/>
              </a:rPr>
              <a:t>Edición</a:t>
            </a:r>
            <a:r>
              <a:rPr sz="1050" b="1" i="0" u="none" dirty="0">
                <a:solidFill>
                  <a:srgbClr val="A855F7"/>
                </a:solidFill>
                <a:latin typeface="Inter"/>
              </a:rPr>
              <a:t> y </a:t>
            </a:r>
            <a:r>
              <a:rPr sz="1050" b="1" i="0" u="none" dirty="0" err="1">
                <a:solidFill>
                  <a:srgbClr val="A855F7"/>
                </a:solidFill>
                <a:latin typeface="Inter"/>
              </a:rPr>
              <a:t>Creación</a:t>
            </a:r>
            <a:r>
              <a:rPr sz="1050" b="1" i="0" u="none" dirty="0">
                <a:solidFill>
                  <a:srgbClr val="A855F7"/>
                </a:solidFill>
                <a:latin typeface="Inter"/>
              </a:rPr>
              <a:t>: </a:t>
            </a:r>
            <a:r>
              <a:rPr sz="1050" b="1" i="0" u="none" dirty="0" err="1">
                <a:solidFill>
                  <a:srgbClr val="A855F7"/>
                </a:solidFill>
                <a:latin typeface="Inter"/>
              </a:rPr>
              <a:t>Modificar</a:t>
            </a:r>
            <a:r>
              <a:rPr sz="1050" b="1" i="0" u="none" dirty="0">
                <a:solidFill>
                  <a:srgbClr val="A855F7"/>
                </a:solidFill>
                <a:latin typeface="Inter"/>
              </a:rPr>
              <a:t> </a:t>
            </a:r>
            <a:r>
              <a:rPr sz="1050" b="1" i="0" u="none" dirty="0" err="1">
                <a:solidFill>
                  <a:srgbClr val="A855F7"/>
                </a:solidFill>
                <a:latin typeface="Inter"/>
              </a:rPr>
              <a:t>información</a:t>
            </a:r>
            <a:r>
              <a:rPr sz="1050" b="1" i="0" u="none" dirty="0">
                <a:solidFill>
                  <a:srgbClr val="A855F7"/>
                </a:solidFill>
                <a:latin typeface="Inter"/>
              </a:rPr>
              <a:t> </a:t>
            </a:r>
            <a:r>
              <a:rPr sz="1050" b="1" i="0" u="none" dirty="0" err="1">
                <a:solidFill>
                  <a:srgbClr val="A855F7"/>
                </a:solidFill>
                <a:latin typeface="Inter"/>
              </a:rPr>
              <a:t>básica</a:t>
            </a:r>
            <a:r>
              <a:rPr sz="1050" b="1" i="0" u="none" dirty="0">
                <a:solidFill>
                  <a:srgbClr val="A855F7"/>
                </a:solidFill>
                <a:latin typeface="Inter"/>
              </a:rPr>
              <a:t> de </a:t>
            </a:r>
            <a:r>
              <a:rPr sz="1050" b="1" i="0" u="none" dirty="0" err="1">
                <a:solidFill>
                  <a:srgbClr val="A855F7"/>
                </a:solidFill>
                <a:latin typeface="Inter"/>
              </a:rPr>
              <a:t>usuarios</a:t>
            </a:r>
            <a:r>
              <a:rPr sz="1050" b="1" i="0" u="none" dirty="0">
                <a:solidFill>
                  <a:srgbClr val="A855F7"/>
                </a:solidFill>
                <a:latin typeface="Inter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77268" y="3867150"/>
            <a:ext cx="515905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855F7"/>
                </a:solidFill>
                <a:latin typeface="Inter"/>
              </a:rPr>
              <a:t>Desactivación: Inhabilitar cuentas sin perder historial de datos.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8966A60-D194-FE25-25EB-D0AA06C0923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2646" t="32083" b="1981"/>
          <a:stretch>
            <a:fillRect/>
          </a:stretch>
        </p:blipFill>
        <p:spPr>
          <a:xfrm>
            <a:off x="6140127" y="1491893"/>
            <a:ext cx="5159052" cy="4521914"/>
          </a:xfrm>
          <a:prstGeom prst="rect">
            <a:avLst/>
          </a:prstGeom>
          <a:ln w="28575">
            <a:solidFill>
              <a:srgbClr val="11B98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9F509112-A082-3FDE-5643-73271E0CC1A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-4" y="14920"/>
            <a:chExt cx="12192000" cy="6858000"/>
          </a:xfrm>
        </p:grpSpPr>
        <p:pic>
          <p:nvPicPr>
            <p:cNvPr id="32" name="Picture 31" descr="Dollar pattern Images - Free Download on Magnific (formerly Freepik)">
              <a:extLst>
                <a:ext uri="{FF2B5EF4-FFF2-40B4-BE49-F238E27FC236}">
                  <a16:creationId xmlns:a16="http://schemas.microsoft.com/office/drawing/2014/main" id="{C9F38235-F461-77AF-53A0-FF71A4EC5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3443920"/>
              <a:ext cx="5805948" cy="3310959"/>
            </a:xfrm>
            <a:prstGeom prst="rect">
              <a:avLst/>
            </a:prstGeom>
          </p:spPr>
        </p:pic>
        <p:pic>
          <p:nvPicPr>
            <p:cNvPr id="33" name="Picture 32" descr="Dollar pattern Images - Free Download on Magnific (formerly Freepik)">
              <a:extLst>
                <a:ext uri="{FF2B5EF4-FFF2-40B4-BE49-F238E27FC236}">
                  <a16:creationId xmlns:a16="http://schemas.microsoft.com/office/drawing/2014/main" id="{24C06DB5-8BF3-893D-7B3A-527CEDEDF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103121"/>
              <a:ext cx="5805948" cy="3310959"/>
            </a:xfrm>
            <a:prstGeom prst="rect">
              <a:avLst/>
            </a:prstGeom>
          </p:spPr>
        </p:pic>
        <p:pic>
          <p:nvPicPr>
            <p:cNvPr id="34" name="Picture 33" descr="Dollar pattern Images - Free Download on Magnific (formerly Freepik)">
              <a:extLst>
                <a:ext uri="{FF2B5EF4-FFF2-40B4-BE49-F238E27FC236}">
                  <a16:creationId xmlns:a16="http://schemas.microsoft.com/office/drawing/2014/main" id="{F0888BDF-C55B-701F-4E24-C5D28280F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3443920"/>
              <a:ext cx="5805948" cy="3310959"/>
            </a:xfrm>
            <a:prstGeom prst="rect">
              <a:avLst/>
            </a:prstGeom>
          </p:spPr>
        </p:pic>
        <p:pic>
          <p:nvPicPr>
            <p:cNvPr id="35" name="Picture 34" descr="Dollar pattern Images - Free Download on Magnific (formerly Freepik)">
              <a:extLst>
                <a:ext uri="{FF2B5EF4-FFF2-40B4-BE49-F238E27FC236}">
                  <a16:creationId xmlns:a16="http://schemas.microsoft.com/office/drawing/2014/main" id="{2D535A00-5182-2A0E-1616-41E104AFF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103121"/>
              <a:ext cx="5805948" cy="3310959"/>
            </a:xfrm>
            <a:prstGeom prst="rect">
              <a:avLst/>
            </a:prstGeom>
          </p:spPr>
        </p:pic>
        <p:pic>
          <p:nvPicPr>
            <p:cNvPr id="36" name="Picture 35" descr="image.png">
              <a:extLst>
                <a:ext uri="{FF2B5EF4-FFF2-40B4-BE49-F238E27FC236}">
                  <a16:creationId xmlns:a16="http://schemas.microsoft.com/office/drawing/2014/main" id="{24C469E7-CD0D-F6AD-AC26-C17DE0B1E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-4" y="14920"/>
              <a:ext cx="12192000" cy="6858000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224087"/>
            <a:ext cx="5467350" cy="1200150"/>
          </a:xfrm>
          <a:prstGeom prst="roundRect">
            <a:avLst>
              <a:gd name="adj" fmla="val 11111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2224087"/>
            <a:ext cx="5467350" cy="1200150"/>
          </a:xfrm>
          <a:prstGeom prst="roundRect">
            <a:avLst>
              <a:gd name="adj" fmla="val 11111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3715321"/>
            <a:ext cx="5467350" cy="1200150"/>
          </a:xfrm>
          <a:prstGeom prst="roundRect">
            <a:avLst>
              <a:gd name="adj" fmla="val 11111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1250" y="3706177"/>
            <a:ext cx="5467350" cy="1200150"/>
          </a:xfrm>
          <a:prstGeom prst="roundRect">
            <a:avLst>
              <a:gd name="adj" fmla="val 11111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8508" y="2009775"/>
            <a:ext cx="809625" cy="19050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14200" y="2009775"/>
            <a:ext cx="847725" cy="19050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6608" y="3524821"/>
            <a:ext cx="771525" cy="190500"/>
          </a:xfrm>
          <a:prstGeom prst="roundRect">
            <a:avLst>
              <a:gd name="adj" fmla="val 20000"/>
            </a:avLst>
          </a:prstGeom>
          <a:solidFill>
            <a:srgbClr val="783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2008" y="3501008"/>
            <a:ext cx="762000" cy="190500"/>
          </a:xfrm>
          <a:prstGeom prst="roundRect">
            <a:avLst>
              <a:gd name="adj" fmla="val 20000"/>
            </a:avLst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33387"/>
            <a:ext cx="135284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4884" y="419100"/>
            <a:ext cx="529403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 dirty="0">
                <a:solidFill>
                  <a:srgbClr val="10B981"/>
                </a:solidFill>
                <a:latin typeface="Plus Jakarta Sans"/>
              </a:rPr>
              <a:t>PARTE TÉCNICA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28650"/>
            <a:ext cx="57808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8FAFC"/>
                </a:solidFill>
                <a:latin typeface="Plus Jakarta Sans"/>
              </a:rPr>
              <a:t>Requerimientos Funcionales (RF)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2481262"/>
            <a:ext cx="62388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 dirty="0" err="1">
                <a:solidFill>
                  <a:srgbClr val="3B82F6"/>
                </a:solidFill>
                <a:latin typeface="Plus Jakarta Sans"/>
              </a:rPr>
              <a:t>Autenticación</a:t>
            </a:r>
            <a:r>
              <a:rPr sz="1200" b="1" i="0" u="none" dirty="0">
                <a:solidFill>
                  <a:srgbClr val="3B82F6"/>
                </a:solidFill>
                <a:latin typeface="Plus Jakarta Sans"/>
              </a:rPr>
              <a:t> &amp;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2757487"/>
            <a:ext cx="5086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Registro de nuevos usuarios, inicio de sesión seguro e identificación automática de roles (Usuario / Administrador).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2485643"/>
            <a:ext cx="57626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 dirty="0" err="1">
                <a:solidFill>
                  <a:srgbClr val="10B981"/>
                </a:solidFill>
                <a:latin typeface="Plus Jakarta Sans"/>
              </a:rPr>
              <a:t>Gestión</a:t>
            </a:r>
            <a:r>
              <a:rPr sz="1200" b="1" i="0" u="none" dirty="0">
                <a:solidFill>
                  <a:srgbClr val="10B981"/>
                </a:solidFill>
                <a:latin typeface="Plus Jakarta Sans"/>
              </a:rPr>
              <a:t> de </a:t>
            </a:r>
            <a:r>
              <a:rPr sz="1200" b="1" i="0" u="none" dirty="0" err="1">
                <a:solidFill>
                  <a:srgbClr val="10B981"/>
                </a:solidFill>
                <a:latin typeface="Plus Jakarta Sans"/>
              </a:rPr>
              <a:t>Movimientos</a:t>
            </a:r>
            <a:endParaRPr sz="1200" b="1" i="0" u="none" dirty="0">
              <a:solidFill>
                <a:srgbClr val="10B981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29375" y="2704718"/>
            <a:ext cx="5086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Funciones CRUD completas: Registrar, consultar, editar y eliminar transacciones de ingresos y gastos.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3898582"/>
            <a:ext cx="62388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 dirty="0" err="1">
                <a:solidFill>
                  <a:srgbClr val="F59E0B"/>
                </a:solidFill>
                <a:latin typeface="Plus Jakarta Sans"/>
              </a:rPr>
              <a:t>Presupuestos</a:t>
            </a:r>
            <a:r>
              <a:rPr sz="1200" b="1" i="0" u="none" dirty="0">
                <a:solidFill>
                  <a:srgbClr val="F59E0B"/>
                </a:solidFill>
                <a:latin typeface="Plus Jakarta Sans"/>
              </a:rPr>
              <a:t> y </a:t>
            </a:r>
            <a:r>
              <a:rPr sz="1200" b="1" i="0" u="none" dirty="0" err="1">
                <a:solidFill>
                  <a:srgbClr val="F59E0B"/>
                </a:solidFill>
                <a:latin typeface="Plus Jakarta Sans"/>
              </a:rPr>
              <a:t>Reportes</a:t>
            </a:r>
            <a:endParaRPr sz="1200" b="1" i="0" u="none" dirty="0">
              <a:solidFill>
                <a:srgbClr val="F59E0B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1525" y="4148137"/>
            <a:ext cx="5086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Cálculo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saldo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,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asignación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categorías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, control de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presupuestos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mensuales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y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generación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gráficos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interactivos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375" y="3926680"/>
            <a:ext cx="57626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A855F7"/>
                </a:solidFill>
                <a:latin typeface="Plus Jakarta Sans"/>
              </a:rPr>
              <a:t>Administración &amp; </a:t>
            </a:r>
            <a:r>
              <a:rPr sz="1200" b="1" i="0" u="none" dirty="0" err="1">
                <a:solidFill>
                  <a:srgbClr val="A855F7"/>
                </a:solidFill>
                <a:latin typeface="Plus Jakarta Sans"/>
              </a:rPr>
              <a:t>Sesión</a:t>
            </a:r>
            <a:endParaRPr sz="1200" b="1" i="0" u="none" dirty="0">
              <a:solidFill>
                <a:srgbClr val="A855F7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29375" y="4148137"/>
            <a:ext cx="5086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Administración de usuarios, políticas de privacidad, cierre de sesión y auditoría del sistema.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378" y="2038788"/>
            <a:ext cx="7524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60A5FA"/>
                </a:solidFill>
                <a:latin typeface="Plus Jakarta Sans"/>
              </a:rPr>
              <a:t>RF-01 –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884" y="3553396"/>
            <a:ext cx="714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FBBF24"/>
                </a:solidFill>
                <a:latin typeface="Plus Jakarta Sans"/>
              </a:rPr>
              <a:t>RF-10 – 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8208" y="3520058"/>
            <a:ext cx="704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C084FC"/>
                </a:solidFill>
                <a:latin typeface="Plus Jakarta Sans"/>
              </a:rPr>
              <a:t>RF-16 – 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5090" y="2039931"/>
            <a:ext cx="7905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4D399"/>
                </a:solidFill>
                <a:latin typeface="Plus Jakarta Sans"/>
              </a:rPr>
              <a:t>RF-04 –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721C8A06-BDE0-AB11-2E85-097736CE33F2}"/>
              </a:ext>
            </a:extLst>
          </p:cNvPr>
          <p:cNvGrpSpPr/>
          <p:nvPr/>
        </p:nvGrpSpPr>
        <p:grpSpPr>
          <a:xfrm>
            <a:off x="1" y="-141514"/>
            <a:ext cx="12207435" cy="6989989"/>
            <a:chOff x="7887" y="390525"/>
            <a:chExt cx="12434281" cy="6989989"/>
          </a:xfrm>
        </p:grpSpPr>
        <p:pic>
          <p:nvPicPr>
            <p:cNvPr id="33" name="Picture 32" descr="Seamless pattern endless computer with old retro computers, pc and vintage  white hipster floppy disks from 70s, 80s, 90s isolated on blue background.  Vector illustration 16673239 Vector Art at Vecteezy">
              <a:extLst>
                <a:ext uri="{FF2B5EF4-FFF2-40B4-BE49-F238E27FC236}">
                  <a16:creationId xmlns:a16="http://schemas.microsoft.com/office/drawing/2014/main" id="{10B3A21B-3343-5561-E69E-1AD295E26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10886" y="3884839"/>
              <a:ext cx="6213742" cy="3495675"/>
            </a:xfrm>
            <a:prstGeom prst="rect">
              <a:avLst/>
            </a:prstGeom>
          </p:spPr>
        </p:pic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C49B39E-62E2-2B5F-2303-E75A45FB5AFB}"/>
                </a:ext>
              </a:extLst>
            </p:cNvPr>
            <p:cNvGrpSpPr/>
            <p:nvPr/>
          </p:nvGrpSpPr>
          <p:grpSpPr>
            <a:xfrm>
              <a:off x="7887" y="390525"/>
              <a:ext cx="12434281" cy="6989989"/>
              <a:chOff x="7887" y="390525"/>
              <a:chExt cx="12434281" cy="6989989"/>
            </a:xfrm>
          </p:grpSpPr>
          <p:pic>
            <p:nvPicPr>
              <p:cNvPr id="35" name="Picture 34" descr="Seamless pattern endless computer with old retro computers, pc and vintage  white hipster floppy disks from 70s, 80s, 90s isolated on blue background.  Vector illustration 16673239 Vector Art at Vecteezy">
                <a:extLst>
                  <a:ext uri="{FF2B5EF4-FFF2-40B4-BE49-F238E27FC236}">
                    <a16:creationId xmlns:a16="http://schemas.microsoft.com/office/drawing/2014/main" id="{22F045F4-3DD6-B76D-EDF1-29CCDCF54D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20000"/>
              </a:blip>
              <a:stretch>
                <a:fillRect/>
              </a:stretch>
            </p:blipFill>
            <p:spPr>
              <a:xfrm>
                <a:off x="7887" y="390525"/>
                <a:ext cx="6213742" cy="3495675"/>
              </a:xfrm>
              <a:prstGeom prst="rect">
                <a:avLst/>
              </a:prstGeom>
            </p:spPr>
          </p:pic>
          <p:pic>
            <p:nvPicPr>
              <p:cNvPr id="36" name="Picture 35" descr="Seamless pattern endless computer with old retro computers, pc and vintage  white hipster floppy disks from 70s, 80s, 90s isolated on blue background.  Vector illustration 16673239 Vector Art at Vecteezy">
                <a:extLst>
                  <a:ext uri="{FF2B5EF4-FFF2-40B4-BE49-F238E27FC236}">
                    <a16:creationId xmlns:a16="http://schemas.microsoft.com/office/drawing/2014/main" id="{B4FCB948-0224-7A9E-6742-8D50AA6D30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20000"/>
              </a:blip>
              <a:stretch>
                <a:fillRect/>
              </a:stretch>
            </p:blipFill>
            <p:spPr>
              <a:xfrm>
                <a:off x="6224036" y="390525"/>
                <a:ext cx="6213742" cy="3495675"/>
              </a:xfrm>
              <a:prstGeom prst="rect">
                <a:avLst/>
              </a:prstGeom>
            </p:spPr>
          </p:pic>
          <p:pic>
            <p:nvPicPr>
              <p:cNvPr id="37" name="Picture 36" descr="Seamless pattern endless computer with old retro computers, pc and vintage  white hipster floppy disks from 70s, 80s, 90s isolated on blue background.  Vector illustration 16673239 Vector Art at Vecteezy">
                <a:extLst>
                  <a:ext uri="{FF2B5EF4-FFF2-40B4-BE49-F238E27FC236}">
                    <a16:creationId xmlns:a16="http://schemas.microsoft.com/office/drawing/2014/main" id="{624FAB12-C700-35DC-BB4B-38AF18ED3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20000"/>
              </a:blip>
              <a:stretch>
                <a:fillRect/>
              </a:stretch>
            </p:blipFill>
            <p:spPr>
              <a:xfrm>
                <a:off x="6225427" y="3884839"/>
                <a:ext cx="6216741" cy="3495675"/>
              </a:xfrm>
              <a:prstGeom prst="rect">
                <a:avLst/>
              </a:prstGeom>
            </p:spPr>
          </p:pic>
        </p:grpSp>
      </p:grpSp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738437"/>
            <a:ext cx="5448300" cy="2190750"/>
          </a:xfrm>
          <a:prstGeom prst="roundRect">
            <a:avLst>
              <a:gd name="adj" fmla="val 6086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738437"/>
            <a:ext cx="5448300" cy="2190750"/>
          </a:xfrm>
          <a:prstGeom prst="roundRect">
            <a:avLst>
              <a:gd name="adj" fmla="val 6086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3387"/>
            <a:ext cx="163859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000375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3000375"/>
            <a:ext cx="219075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3459" y="419100"/>
            <a:ext cx="6434695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10B981"/>
                </a:solidFill>
                <a:latin typeface="Plus Jakarta Sans"/>
              </a:rPr>
              <a:t>PARTE TÉCNICA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28650"/>
            <a:ext cx="7008493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8FAFC"/>
                </a:solidFill>
                <a:latin typeface="Plus Jakarta Sans"/>
              </a:rPr>
              <a:t>Calidad del Sistema y Reglas de Negocio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2976562"/>
            <a:ext cx="5948362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B82F6"/>
                </a:solidFill>
                <a:latin typeface="Plus Jakarta Sans"/>
              </a:rPr>
              <a:t>Requerimientos No Funcionales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290887"/>
            <a:ext cx="62150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Criterios de comportamiento y rendimiento del 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2976562"/>
            <a:ext cx="5429250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0B981"/>
                </a:solidFill>
                <a:latin typeface="Plus Jakarta Sans"/>
              </a:rPr>
              <a:t>Reglas de Negocio Clave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290887"/>
            <a:ext cx="57435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Condiciones e invariantes que siempre deben cumplirse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3548062"/>
            <a:ext cx="621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Rendimiento: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Carga de vistas principales en menos de 3 segundos.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3795712"/>
            <a:ext cx="621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Seguridad: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Contraseñas encriptadas obligatoriamente con hash seguro.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4043362"/>
            <a:ext cx="621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Usabilidad: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Diseño responsivo adaptable desde 360 px.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4291012"/>
            <a:ext cx="621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Compatibilidad: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Soporte para Chrome, Edge, Brave, Safari y Firefox.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4538662"/>
            <a:ext cx="621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Mantenibilidad: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Separación de interfaz, lógica y datos.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354806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Correo Único: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Cada email identifica de forma unívoca a una sola cuenta.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425" y="379571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Privacidad: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Un usuario solo accede a su información financiera personal.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5" y="404336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Valores Positivos: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Ingresos, gastos y presupuestos deben ser mayores a cero.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8425" y="429101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Historial Integridad: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Categorías con movimientos conservan historial.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425" y="453866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Bloqueo de Acceso: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Usuarios desactivados no pueden iniciar sesión.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3602D7AD-387C-5CF3-96AC-89870FD323E0}"/>
              </a:ext>
            </a:extLst>
          </p:cNvPr>
          <p:cNvGrpSpPr/>
          <p:nvPr/>
        </p:nvGrpSpPr>
        <p:grpSpPr>
          <a:xfrm>
            <a:off x="1" y="-141514"/>
            <a:ext cx="12207435" cy="6989989"/>
            <a:chOff x="7887" y="390525"/>
            <a:chExt cx="12434281" cy="6989989"/>
          </a:xfrm>
        </p:grpSpPr>
        <p:pic>
          <p:nvPicPr>
            <p:cNvPr id="64" name="Picture 63" descr="Seamless pattern endless computer with old retro computers, pc and vintage  white hipster floppy disks from 70s, 80s, 90s isolated on blue background.  Vector illustration 16673239 Vector Art at Vecteezy">
              <a:extLst>
                <a:ext uri="{FF2B5EF4-FFF2-40B4-BE49-F238E27FC236}">
                  <a16:creationId xmlns:a16="http://schemas.microsoft.com/office/drawing/2014/main" id="{F7E0D28A-ACBE-5438-5B4C-BBE031A9A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10886" y="3884839"/>
              <a:ext cx="6213742" cy="3495675"/>
            </a:xfrm>
            <a:prstGeom prst="rect">
              <a:avLst/>
            </a:prstGeom>
          </p:spPr>
        </p:pic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6B7A22D-C411-2037-8955-47D91BCF9005}"/>
                </a:ext>
              </a:extLst>
            </p:cNvPr>
            <p:cNvGrpSpPr/>
            <p:nvPr/>
          </p:nvGrpSpPr>
          <p:grpSpPr>
            <a:xfrm>
              <a:off x="7887" y="390525"/>
              <a:ext cx="12434281" cy="6989989"/>
              <a:chOff x="7887" y="390525"/>
              <a:chExt cx="12434281" cy="6989989"/>
            </a:xfrm>
          </p:grpSpPr>
          <p:pic>
            <p:nvPicPr>
              <p:cNvPr id="63" name="Picture 62" descr="Seamless pattern endless computer with old retro computers, pc and vintage  white hipster floppy disks from 70s, 80s, 90s isolated on blue background.  Vector illustration 16673239 Vector Art at Vecteezy">
                <a:extLst>
                  <a:ext uri="{FF2B5EF4-FFF2-40B4-BE49-F238E27FC236}">
                    <a16:creationId xmlns:a16="http://schemas.microsoft.com/office/drawing/2014/main" id="{98BC33ED-D2A4-528F-4033-C96F11F2E9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20000"/>
              </a:blip>
              <a:stretch>
                <a:fillRect/>
              </a:stretch>
            </p:blipFill>
            <p:spPr>
              <a:xfrm>
                <a:off x="7887" y="390525"/>
                <a:ext cx="6213742" cy="3495675"/>
              </a:xfrm>
              <a:prstGeom prst="rect">
                <a:avLst/>
              </a:prstGeom>
            </p:spPr>
          </p:pic>
          <p:pic>
            <p:nvPicPr>
              <p:cNvPr id="65" name="Picture 64" descr="Seamless pattern endless computer with old retro computers, pc and vintage  white hipster floppy disks from 70s, 80s, 90s isolated on blue background.  Vector illustration 16673239 Vector Art at Vecteezy">
                <a:extLst>
                  <a:ext uri="{FF2B5EF4-FFF2-40B4-BE49-F238E27FC236}">
                    <a16:creationId xmlns:a16="http://schemas.microsoft.com/office/drawing/2014/main" id="{66D14151-D893-DCA6-92A3-158B8BAA57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20000"/>
              </a:blip>
              <a:stretch>
                <a:fillRect/>
              </a:stretch>
            </p:blipFill>
            <p:spPr>
              <a:xfrm>
                <a:off x="6224036" y="390525"/>
                <a:ext cx="6213742" cy="3495675"/>
              </a:xfrm>
              <a:prstGeom prst="rect">
                <a:avLst/>
              </a:prstGeom>
            </p:spPr>
          </p:pic>
          <p:pic>
            <p:nvPicPr>
              <p:cNvPr id="66" name="Picture 65" descr="Seamless pattern endless computer with old retro computers, pc and vintage  white hipster floppy disks from 70s, 80s, 90s isolated on blue background.  Vector illustration 16673239 Vector Art at Vecteezy">
                <a:extLst>
                  <a:ext uri="{FF2B5EF4-FFF2-40B4-BE49-F238E27FC236}">
                    <a16:creationId xmlns:a16="http://schemas.microsoft.com/office/drawing/2014/main" id="{43C6F587-EC17-203E-F245-E53BC4D337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20000"/>
              </a:blip>
              <a:stretch>
                <a:fillRect/>
              </a:stretch>
            </p:blipFill>
            <p:spPr>
              <a:xfrm>
                <a:off x="6225427" y="3884839"/>
                <a:ext cx="6216741" cy="3495675"/>
              </a:xfrm>
              <a:prstGeom prst="rect">
                <a:avLst/>
              </a:prstGeom>
            </p:spPr>
          </p:pic>
        </p:grpSp>
      </p:grpSp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248150"/>
            <a:ext cx="11125200" cy="876300"/>
          </a:xfrm>
          <a:prstGeom prst="roundRect">
            <a:avLst>
              <a:gd name="adj" fmla="val 10869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576512"/>
            <a:ext cx="1860500" cy="1514475"/>
          </a:xfrm>
          <a:prstGeom prst="roundRect">
            <a:avLst>
              <a:gd name="adj" fmla="val 503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27250" y="2543175"/>
            <a:ext cx="2228850" cy="1514475"/>
          </a:xfrm>
          <a:prstGeom prst="roundRect">
            <a:avLst>
              <a:gd name="adj" fmla="val 503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89450" y="2543175"/>
            <a:ext cx="2044749" cy="1514475"/>
          </a:xfrm>
          <a:prstGeom prst="roundRect">
            <a:avLst>
              <a:gd name="adj" fmla="val 503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067550" y="2543175"/>
            <a:ext cx="2228850" cy="1514475"/>
          </a:xfrm>
          <a:prstGeom prst="roundRect">
            <a:avLst>
              <a:gd name="adj" fmla="val 503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29750" y="2543175"/>
            <a:ext cx="2228850" cy="1514475"/>
          </a:xfrm>
          <a:prstGeom prst="roundRect">
            <a:avLst>
              <a:gd name="adj" fmla="val 503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2925" y="2552700"/>
            <a:ext cx="1841450" cy="3143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36775" y="2552700"/>
            <a:ext cx="2209800" cy="3143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98975" y="2552700"/>
            <a:ext cx="2025699" cy="3143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77075" y="2552700"/>
            <a:ext cx="2209800" cy="3143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439275" y="2552700"/>
            <a:ext cx="2209800" cy="3143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3387"/>
            <a:ext cx="116234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2647950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075" y="2647950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3275" y="2647950"/>
            <a:ext cx="1238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1375" y="2647950"/>
            <a:ext cx="12382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3575" y="2647950"/>
            <a:ext cx="123825" cy="1238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5834" y="419100"/>
            <a:ext cx="4432027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10B981"/>
                </a:solidFill>
                <a:latin typeface="Plus Jakarta Sans"/>
              </a:rPr>
              <a:t>PARTE TÉCNICA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628650"/>
            <a:ext cx="485568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8FAFC"/>
                </a:solidFill>
                <a:latin typeface="Plus Jakarta Sans"/>
              </a:rPr>
              <a:t>Modelo de Datos Relacional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4391025"/>
            <a:ext cx="11458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Relaciones Principales de Cardinalidad: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49" y="2628900"/>
            <a:ext cx="1469976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8BDF8"/>
                </a:solidFill>
                <a:latin typeface="JetBrains Mono"/>
              </a:rPr>
              <a:t>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9199" y="2628900"/>
            <a:ext cx="183832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 err="1">
                <a:solidFill>
                  <a:srgbClr val="34D399"/>
                </a:solidFill>
                <a:latin typeface="JetBrains Mono"/>
              </a:rPr>
              <a:t>Usuario</a:t>
            </a:r>
            <a:endParaRPr sz="975" b="1" i="0" u="none" dirty="0">
              <a:solidFill>
                <a:srgbClr val="34D399"/>
              </a:solidFill>
              <a:latin typeface="JetBrains Mon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51400" y="2628900"/>
            <a:ext cx="1654224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 err="1">
                <a:solidFill>
                  <a:srgbClr val="FBBF24"/>
                </a:solidFill>
                <a:latin typeface="JetBrains Mono"/>
              </a:rPr>
              <a:t>Categoría</a:t>
            </a:r>
            <a:endParaRPr sz="975" b="1" i="0" u="none" dirty="0">
              <a:solidFill>
                <a:srgbClr val="FBBF24"/>
              </a:solidFill>
              <a:latin typeface="JetBrains Mon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29499" y="2628900"/>
            <a:ext cx="183832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 err="1">
                <a:solidFill>
                  <a:srgbClr val="F87171"/>
                </a:solidFill>
                <a:latin typeface="JetBrains Mono"/>
              </a:rPr>
              <a:t>Movimiento</a:t>
            </a:r>
            <a:endParaRPr sz="975" b="1" i="0" u="none" dirty="0">
              <a:solidFill>
                <a:srgbClr val="F87171"/>
              </a:solidFill>
              <a:latin typeface="JetBrains Mon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91699" y="2628900"/>
            <a:ext cx="183832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 err="1">
                <a:solidFill>
                  <a:srgbClr val="C084FC"/>
                </a:solidFill>
                <a:latin typeface="JetBrains Mono"/>
              </a:rPr>
              <a:t>Presupuesto</a:t>
            </a:r>
            <a:endParaRPr sz="975" b="1" i="0" u="none" dirty="0">
              <a:solidFill>
                <a:srgbClr val="C084FC"/>
              </a:solidFill>
              <a:latin typeface="JetBrains Mon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3425" y="4600575"/>
            <a:ext cx="6643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• Un </a:t>
            </a:r>
            <a:r>
              <a:rPr sz="900" b="1" i="0" u="none">
                <a:solidFill>
                  <a:srgbClr val="94A3B8"/>
                </a:solidFill>
                <a:latin typeface="Inter"/>
              </a:rPr>
              <a:t>Rol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 puede estar asociado a muchos </a:t>
            </a:r>
            <a:r>
              <a:rPr sz="900" b="1" i="0" u="none">
                <a:solidFill>
                  <a:srgbClr val="94A3B8"/>
                </a:solidFill>
                <a:latin typeface="Inter"/>
              </a:rPr>
              <a:t>Usuarios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 (1:N).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3625" y="4600575"/>
            <a:ext cx="6048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• Una </a:t>
            </a:r>
            <a:r>
              <a:rPr sz="900" b="1" i="0" u="none">
                <a:solidFill>
                  <a:srgbClr val="94A3B8"/>
                </a:solidFill>
                <a:latin typeface="Inter"/>
              </a:rPr>
              <a:t>Categoría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 posee múltiples </a:t>
            </a:r>
            <a:r>
              <a:rPr sz="900" b="1" i="0" u="none">
                <a:solidFill>
                  <a:srgbClr val="94A3B8"/>
                </a:solidFill>
                <a:latin typeface="Inter"/>
              </a:rPr>
              <a:t>Movimientos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 y </a:t>
            </a:r>
            <a:r>
              <a:rPr sz="900" b="1" i="0" u="none">
                <a:solidFill>
                  <a:srgbClr val="94A3B8"/>
                </a:solidFill>
                <a:latin typeface="Inter"/>
              </a:rPr>
              <a:t>Presupuestos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 (1:N).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425" y="4838700"/>
            <a:ext cx="6643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• Un </a:t>
            </a:r>
            <a:r>
              <a:rPr sz="900" b="1" i="0" u="none">
                <a:solidFill>
                  <a:srgbClr val="94A3B8"/>
                </a:solidFill>
                <a:latin typeface="Inter"/>
              </a:rPr>
              <a:t>Usuario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 gestiona sus propias categorías, movimientos y presupuestos.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3625" y="4838700"/>
            <a:ext cx="6048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• Cada </a:t>
            </a:r>
            <a:r>
              <a:rPr sz="900" b="1" i="0" u="none">
                <a:solidFill>
                  <a:srgbClr val="94A3B8"/>
                </a:solidFill>
                <a:latin typeface="Inter"/>
              </a:rPr>
              <a:t>Movimiento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 pertenece estrictamente a un usuario y a una categoría.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175" y="2962275"/>
            <a:ext cx="206368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59E0B"/>
                </a:solidFill>
                <a:latin typeface="JetBrains Mono"/>
              </a:rPr>
              <a:t>PK</a:t>
            </a:r>
            <a:r>
              <a:rPr sz="825" b="0" i="0" u="none">
                <a:solidFill>
                  <a:srgbClr val="94A3B8"/>
                </a:solidFill>
                <a:latin typeface="JetBrains Mono"/>
              </a:rPr>
              <a:t>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175" y="3133725"/>
            <a:ext cx="206368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nombre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32025" y="296227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59E0B"/>
                </a:solidFill>
                <a:latin typeface="JetBrains Mono"/>
              </a:rPr>
              <a:t>PK</a:t>
            </a:r>
            <a:r>
              <a:rPr sz="825" b="0" i="0" u="none">
                <a:solidFill>
                  <a:srgbClr val="94A3B8"/>
                </a:solidFill>
                <a:latin typeface="JetBrains Mono"/>
              </a:rPr>
              <a:t> 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32025" y="313372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nombre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32025" y="330517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correo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32025" y="347662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contraseña_hash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32025" y="364807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JetBrains Mono"/>
              </a:rPr>
              <a:t>FK</a:t>
            </a:r>
            <a:r>
              <a:rPr sz="825" b="0" i="0" u="none">
                <a:solidFill>
                  <a:srgbClr val="94A3B8"/>
                </a:solidFill>
                <a:latin typeface="JetBrains Mono"/>
              </a:rPr>
              <a:t> rol_id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32025" y="381952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estado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4225" y="2962275"/>
            <a:ext cx="229399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59E0B"/>
                </a:solidFill>
                <a:latin typeface="JetBrains Mono"/>
              </a:rPr>
              <a:t>PK</a:t>
            </a:r>
            <a:r>
              <a:rPr sz="825" b="0" i="0" u="none">
                <a:solidFill>
                  <a:srgbClr val="94A3B8"/>
                </a:solidFill>
                <a:latin typeface="JetBrains Mono"/>
              </a:rPr>
              <a:t>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94225" y="3133725"/>
            <a:ext cx="229399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JetBrains Mono"/>
              </a:rPr>
              <a:t>FK</a:t>
            </a:r>
            <a:r>
              <a:rPr sz="825" b="0" i="0" u="none">
                <a:solidFill>
                  <a:srgbClr val="94A3B8"/>
                </a:solidFill>
                <a:latin typeface="JetBrains Mono"/>
              </a:rPr>
              <a:t> usuario_id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94225" y="3305175"/>
            <a:ext cx="229399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nombre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94225" y="3476625"/>
            <a:ext cx="229399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tipo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94225" y="3648075"/>
            <a:ext cx="229399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estado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2325" y="296227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59E0B"/>
                </a:solidFill>
                <a:latin typeface="JetBrains Mono"/>
              </a:rPr>
              <a:t>PK</a:t>
            </a:r>
            <a:r>
              <a:rPr sz="825" b="0" i="0" u="none">
                <a:solidFill>
                  <a:srgbClr val="94A3B8"/>
                </a:solidFill>
                <a:latin typeface="JetBrains Mono"/>
              </a:rPr>
              <a:t> 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2325" y="313372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JetBrains Mono"/>
              </a:rPr>
              <a:t>FK</a:t>
            </a:r>
            <a:r>
              <a:rPr sz="825" b="0" i="0" u="none">
                <a:solidFill>
                  <a:srgbClr val="94A3B8"/>
                </a:solidFill>
                <a:latin typeface="JetBrains Mono"/>
              </a:rPr>
              <a:t> usuario_id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2325" y="330517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JetBrains Mono"/>
              </a:rPr>
              <a:t>FK</a:t>
            </a:r>
            <a:r>
              <a:rPr sz="825" b="0" i="0" u="none">
                <a:solidFill>
                  <a:srgbClr val="94A3B8"/>
                </a:solidFill>
                <a:latin typeface="JetBrains Mono"/>
              </a:rPr>
              <a:t> categoria_id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2325" y="347662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tipo · valor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2325" y="364807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fecha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34525" y="296227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59E0B"/>
                </a:solidFill>
                <a:latin typeface="JetBrains Mono"/>
              </a:rPr>
              <a:t>PK</a:t>
            </a:r>
            <a:r>
              <a:rPr sz="825" b="0" i="0" u="none">
                <a:solidFill>
                  <a:srgbClr val="94A3B8"/>
                </a:solidFill>
                <a:latin typeface="JetBrains Mono"/>
              </a:rPr>
              <a:t> 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34525" y="313372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JetBrains Mono"/>
              </a:rPr>
              <a:t>FK</a:t>
            </a:r>
            <a:r>
              <a:rPr sz="825" b="0" i="0" u="none">
                <a:solidFill>
                  <a:srgbClr val="94A3B8"/>
                </a:solidFill>
                <a:latin typeface="JetBrains Mono"/>
              </a:rPr>
              <a:t> usuario_id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34525" y="330517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JetBrains Mono"/>
              </a:rPr>
              <a:t>FK</a:t>
            </a:r>
            <a:r>
              <a:rPr sz="825" b="0" i="0" u="none">
                <a:solidFill>
                  <a:srgbClr val="94A3B8"/>
                </a:solidFill>
                <a:latin typeface="JetBrains Mono"/>
              </a:rPr>
              <a:t> categoria_id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34525" y="347662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valor_límite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4525" y="3648075"/>
            <a:ext cx="2524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periodo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F5EA8E1E-B02F-B7E2-9820-A63A5791116E}"/>
              </a:ext>
            </a:extLst>
          </p:cNvPr>
          <p:cNvGrpSpPr/>
          <p:nvPr/>
        </p:nvGrpSpPr>
        <p:grpSpPr>
          <a:xfrm>
            <a:off x="1" y="-141514"/>
            <a:ext cx="12207435" cy="6989989"/>
            <a:chOff x="7887" y="390525"/>
            <a:chExt cx="12434281" cy="6989989"/>
          </a:xfrm>
        </p:grpSpPr>
        <p:pic>
          <p:nvPicPr>
            <p:cNvPr id="31" name="Picture 30" descr="Seamless pattern endless computer with old retro computers, pc and vintage  white hipster floppy disks from 70s, 80s, 90s isolated on blue background.  Vector illustration 16673239 Vector Art at Vecteezy">
              <a:extLst>
                <a:ext uri="{FF2B5EF4-FFF2-40B4-BE49-F238E27FC236}">
                  <a16:creationId xmlns:a16="http://schemas.microsoft.com/office/drawing/2014/main" id="{1DA172C5-1372-0348-EDFA-8CD5FC23D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10886" y="3884839"/>
              <a:ext cx="6213742" cy="3495675"/>
            </a:xfrm>
            <a:prstGeom prst="rect">
              <a:avLst/>
            </a:prstGeom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C16D561-723F-07D6-217F-B7F59458A1B8}"/>
                </a:ext>
              </a:extLst>
            </p:cNvPr>
            <p:cNvGrpSpPr/>
            <p:nvPr/>
          </p:nvGrpSpPr>
          <p:grpSpPr>
            <a:xfrm>
              <a:off x="7887" y="390525"/>
              <a:ext cx="12434281" cy="6989989"/>
              <a:chOff x="7887" y="390525"/>
              <a:chExt cx="12434281" cy="6989989"/>
            </a:xfrm>
          </p:grpSpPr>
          <p:pic>
            <p:nvPicPr>
              <p:cNvPr id="33" name="Picture 32" descr="Seamless pattern endless computer with old retro computers, pc and vintage  white hipster floppy disks from 70s, 80s, 90s isolated on blue background.  Vector illustration 16673239 Vector Art at Vecteezy">
                <a:extLst>
                  <a:ext uri="{FF2B5EF4-FFF2-40B4-BE49-F238E27FC236}">
                    <a16:creationId xmlns:a16="http://schemas.microsoft.com/office/drawing/2014/main" id="{F1F9760F-A0CA-56EE-72A3-0E0CDB81E7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20000"/>
              </a:blip>
              <a:stretch>
                <a:fillRect/>
              </a:stretch>
            </p:blipFill>
            <p:spPr>
              <a:xfrm>
                <a:off x="7887" y="390525"/>
                <a:ext cx="6213742" cy="3495675"/>
              </a:xfrm>
              <a:prstGeom prst="rect">
                <a:avLst/>
              </a:prstGeom>
            </p:spPr>
          </p:pic>
          <p:pic>
            <p:nvPicPr>
              <p:cNvPr id="34" name="Picture 33" descr="Seamless pattern endless computer with old retro computers, pc and vintage  white hipster floppy disks from 70s, 80s, 90s isolated on blue background.  Vector illustration 16673239 Vector Art at Vecteezy">
                <a:extLst>
                  <a:ext uri="{FF2B5EF4-FFF2-40B4-BE49-F238E27FC236}">
                    <a16:creationId xmlns:a16="http://schemas.microsoft.com/office/drawing/2014/main" id="{831BFD49-957F-C462-612B-E5F0BA8243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20000"/>
              </a:blip>
              <a:stretch>
                <a:fillRect/>
              </a:stretch>
            </p:blipFill>
            <p:spPr>
              <a:xfrm>
                <a:off x="6224036" y="390525"/>
                <a:ext cx="6213742" cy="3495675"/>
              </a:xfrm>
              <a:prstGeom prst="rect">
                <a:avLst/>
              </a:prstGeom>
            </p:spPr>
          </p:pic>
          <p:pic>
            <p:nvPicPr>
              <p:cNvPr id="35" name="Picture 34" descr="Seamless pattern endless computer with old retro computers, pc and vintage  white hipster floppy disks from 70s, 80s, 90s isolated on blue background.  Vector illustration 16673239 Vector Art at Vecteezy">
                <a:extLst>
                  <a:ext uri="{FF2B5EF4-FFF2-40B4-BE49-F238E27FC236}">
                    <a16:creationId xmlns:a16="http://schemas.microsoft.com/office/drawing/2014/main" id="{0D0E5D83-2325-E0A9-9708-4C2D5F0284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20000"/>
              </a:blip>
              <a:stretch>
                <a:fillRect/>
              </a:stretch>
            </p:blipFill>
            <p:spPr>
              <a:xfrm>
                <a:off x="6225427" y="3884839"/>
                <a:ext cx="6216741" cy="3495675"/>
              </a:xfrm>
              <a:prstGeom prst="rect">
                <a:avLst/>
              </a:prstGeom>
            </p:spPr>
          </p:pic>
        </p:grpSp>
      </p:grpSp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48875" y="419100"/>
            <a:ext cx="1609725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700337"/>
            <a:ext cx="5448300" cy="2266950"/>
          </a:xfrm>
          <a:prstGeom prst="roundRect">
            <a:avLst>
              <a:gd name="adj" fmla="val 5882"/>
            </a:avLst>
          </a:prstGeom>
          <a:solidFill>
            <a:srgbClr val="161E2E"/>
          </a:solidFill>
          <a:ln w="9525">
            <a:solidFill>
              <a:srgbClr val="6948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700337"/>
            <a:ext cx="5448300" cy="2266950"/>
          </a:xfrm>
          <a:prstGeom prst="roundRect">
            <a:avLst>
              <a:gd name="adj" fmla="val 5882"/>
            </a:avLst>
          </a:prstGeom>
          <a:solidFill>
            <a:srgbClr val="161E2E"/>
          </a:solidFill>
          <a:ln w="9525">
            <a:solidFill>
              <a:srgbClr val="1E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3387"/>
            <a:ext cx="135284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962275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2962275"/>
            <a:ext cx="1333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267075"/>
            <a:ext cx="857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543300"/>
            <a:ext cx="857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819525"/>
            <a:ext cx="857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095750"/>
            <a:ext cx="857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3267075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3705225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4143375"/>
            <a:ext cx="1143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4419600"/>
            <a:ext cx="114300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82225" y="47625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Inter"/>
              </a:rPr>
              <a:t>Arquitectura &amp; Límites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884" y="419100"/>
            <a:ext cx="59250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10B981"/>
                </a:solidFill>
                <a:latin typeface="Plus Jakarta Sans"/>
              </a:rPr>
              <a:t>PARTE TÉCNICA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28650"/>
            <a:ext cx="6443383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8FAFC"/>
                </a:solidFill>
                <a:latin typeface="Plus Jakarta Sans"/>
              </a:rPr>
              <a:t>Restricciones y Decisiones de Diseño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175" y="2938462"/>
            <a:ext cx="5967412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59E0B"/>
                </a:solidFill>
                <a:latin typeface="Plus Jakarta Sans"/>
              </a:rPr>
              <a:t>Restricciones del Proyecto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2938462"/>
            <a:ext cx="551497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B82F6"/>
                </a:solidFill>
                <a:latin typeface="Plus Jakarta Sans"/>
              </a:rPr>
              <a:t>Decisiones Arquitectónicas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3252787"/>
            <a:ext cx="60340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59E0B"/>
                </a:solidFill>
                <a:latin typeface="Inter"/>
              </a:rPr>
              <a:t>Aplicación web requerida con conexión activa a Internet.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3529012"/>
            <a:ext cx="60340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59E0B"/>
                </a:solidFill>
                <a:latin typeface="Inter"/>
              </a:rPr>
              <a:t>Uso obligatorio de base de datos relacional para persistencia.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" y="3805237"/>
            <a:ext cx="60340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59E0B"/>
                </a:solidFill>
                <a:latin typeface="Inter"/>
              </a:rPr>
              <a:t>Autenticación con dos roles bien definidos y permisos distintos.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" y="4081462"/>
            <a:ext cx="60340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59E0B"/>
                </a:solidFill>
                <a:latin typeface="Inter"/>
              </a:rPr>
              <a:t>Sin pasarelas de pago ni transferencias bancarias reales.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7975" y="3252787"/>
            <a:ext cx="4857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Inter"/>
              </a:rPr>
              <a:t>Aislamiento de Datos: Separación estricta por usuario para proteger la privacidad.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7975" y="3690937"/>
            <a:ext cx="4857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Inter"/>
              </a:rPr>
              <a:t>Inmutabilidad Histórica: Conservación de registros para auditoría e integridad.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7975" y="4129087"/>
            <a:ext cx="55340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Inter"/>
              </a:rPr>
              <a:t>Categorización Dinámica: Clasificación flexible de ingresos y gastos.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7975" y="4405312"/>
            <a:ext cx="4857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Inter"/>
              </a:rPr>
              <a:t>Visualización Dashboard: Muestra de saldos y gráficos para decisiones ágiles.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0D30E418-D038-BEED-FBFB-E9D2A5D1E3A5}"/>
              </a:ext>
            </a:extLst>
          </p:cNvPr>
          <p:cNvGrpSpPr/>
          <p:nvPr/>
        </p:nvGrpSpPr>
        <p:grpSpPr>
          <a:xfrm>
            <a:off x="-4" y="14920"/>
            <a:ext cx="12192000" cy="6858000"/>
            <a:chOff x="-4" y="14920"/>
            <a:chExt cx="12192000" cy="6858000"/>
          </a:xfrm>
        </p:grpSpPr>
        <p:pic>
          <p:nvPicPr>
            <p:cNvPr id="33" name="Picture 32" descr="Dollar pattern Images - Free Download on Magnific (formerly Freepik)">
              <a:extLst>
                <a:ext uri="{FF2B5EF4-FFF2-40B4-BE49-F238E27FC236}">
                  <a16:creationId xmlns:a16="http://schemas.microsoft.com/office/drawing/2014/main" id="{666E939E-5285-B163-DE3A-83A1105C5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3443920"/>
              <a:ext cx="5805948" cy="3310959"/>
            </a:xfrm>
            <a:prstGeom prst="rect">
              <a:avLst/>
            </a:prstGeom>
          </p:spPr>
        </p:pic>
        <p:pic>
          <p:nvPicPr>
            <p:cNvPr id="34" name="Picture 33" descr="Dollar pattern Images - Free Download on Magnific (formerly Freepik)">
              <a:extLst>
                <a:ext uri="{FF2B5EF4-FFF2-40B4-BE49-F238E27FC236}">
                  <a16:creationId xmlns:a16="http://schemas.microsoft.com/office/drawing/2014/main" id="{8D4B665F-591C-2171-2650-9024BFBDC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103121"/>
              <a:ext cx="5805948" cy="3310959"/>
            </a:xfrm>
            <a:prstGeom prst="rect">
              <a:avLst/>
            </a:prstGeom>
          </p:spPr>
        </p:pic>
        <p:pic>
          <p:nvPicPr>
            <p:cNvPr id="35" name="Picture 34" descr="Dollar pattern Images - Free Download on Magnific (formerly Freepik)">
              <a:extLst>
                <a:ext uri="{FF2B5EF4-FFF2-40B4-BE49-F238E27FC236}">
                  <a16:creationId xmlns:a16="http://schemas.microsoft.com/office/drawing/2014/main" id="{8B15199D-6B15-ED21-63D0-448C54BBC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290048" y="3443920"/>
              <a:ext cx="5805948" cy="3310959"/>
            </a:xfrm>
            <a:prstGeom prst="rect">
              <a:avLst/>
            </a:prstGeom>
          </p:spPr>
        </p:pic>
        <p:pic>
          <p:nvPicPr>
            <p:cNvPr id="36" name="Picture 35" descr="Dollar pattern Images - Free Download on Magnific (formerly Freepik)">
              <a:extLst>
                <a:ext uri="{FF2B5EF4-FFF2-40B4-BE49-F238E27FC236}">
                  <a16:creationId xmlns:a16="http://schemas.microsoft.com/office/drawing/2014/main" id="{F7AB5D23-D84C-5B2E-646C-A26CDBFC7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/>
            <a:stretch>
              <a:fillRect/>
            </a:stretch>
          </p:blipFill>
          <p:spPr>
            <a:xfrm>
              <a:off x="6095996" y="103121"/>
              <a:ext cx="5805948" cy="3310959"/>
            </a:xfrm>
            <a:prstGeom prst="rect">
              <a:avLst/>
            </a:prstGeom>
          </p:spPr>
        </p:pic>
        <p:pic>
          <p:nvPicPr>
            <p:cNvPr id="37" name="Picture 36" descr="image.png">
              <a:extLst>
                <a:ext uri="{FF2B5EF4-FFF2-40B4-BE49-F238E27FC236}">
                  <a16:creationId xmlns:a16="http://schemas.microsoft.com/office/drawing/2014/main" id="{361F302F-E2AE-2FFB-4D80-71EC57C58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-4" y="14920"/>
              <a:ext cx="12192000" cy="6858000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633662"/>
            <a:ext cx="3606700" cy="1123950"/>
          </a:xfrm>
          <a:prstGeom prst="roundRect">
            <a:avLst>
              <a:gd name="adj" fmla="val 11864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92500" y="2633662"/>
            <a:ext cx="3606849" cy="2400300"/>
          </a:xfrm>
          <a:prstGeom prst="roundRect">
            <a:avLst>
              <a:gd name="adj" fmla="val 11864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750" y="2633662"/>
            <a:ext cx="3606700" cy="1123950"/>
          </a:xfrm>
          <a:prstGeom prst="roundRect">
            <a:avLst>
              <a:gd name="adj" fmla="val 11864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3910012"/>
            <a:ext cx="3606700" cy="1123950"/>
          </a:xfrm>
          <a:prstGeom prst="roundRect">
            <a:avLst>
              <a:gd name="adj" fmla="val 11864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51750" y="3910012"/>
            <a:ext cx="3606700" cy="1123950"/>
          </a:xfrm>
          <a:prstGeom prst="roundRect">
            <a:avLst>
              <a:gd name="adj" fmla="val 11864"/>
            </a:avLst>
          </a:prstGeom>
          <a:solidFill>
            <a:srgbClr val="161E2E"/>
          </a:solidFill>
          <a:ln w="9525">
            <a:solidFill>
              <a:srgbClr val="27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890837"/>
            <a:ext cx="1047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625" y="2890837"/>
            <a:ext cx="1619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9875" y="2890837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167187"/>
            <a:ext cx="1619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9875" y="4167187"/>
            <a:ext cx="14287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3400" y="628650"/>
            <a:ext cx="5643283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8FAFC"/>
                </a:solidFill>
                <a:latin typeface="Plus Jakarta Sans"/>
              </a:rPr>
              <a:t>Checklist de Repositorio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50" y="2871787"/>
            <a:ext cx="3713038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10B981"/>
                </a:solidFill>
                <a:latin typeface="Plus Jakarta Sans"/>
              </a:rPr>
              <a:t>docs/definicion.md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3148012"/>
            <a:ext cx="32257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Documentación oficial en Markdown que incluye las 13 secciones normativas requeridas.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7800" y="2871787"/>
            <a:ext cx="3656074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3B82F6"/>
                </a:solidFill>
                <a:latin typeface="Plus Jakarta Sans"/>
              </a:rPr>
              <a:t>docs/mockup/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0625" y="3148012"/>
            <a:ext cx="3225849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Carpeta con imágenes individuales exportadas de cada pantalla del flujo funcional.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8000" y="2871787"/>
            <a:ext cx="3663999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F59E0B"/>
                </a:solidFill>
                <a:latin typeface="Plus Jakarta Sans"/>
              </a:rPr>
              <a:t>docs/presentacion/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9875" y="3148012"/>
            <a:ext cx="32257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Presentación ejecutable guardada en formato PDF / PPTX o versión editable HTML.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" y="4118726"/>
            <a:ext cx="3501925" cy="1731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A855F7"/>
                </a:solidFill>
                <a:latin typeface="Plus Jakarta Sans"/>
              </a:rPr>
              <a:t>README.md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525" y="4424362"/>
            <a:ext cx="32257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Contiene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nombre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del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proyecto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,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lista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integrantes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y enlace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directo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a la </a:t>
            </a:r>
            <a:r>
              <a:rPr sz="975" b="0" i="0" u="none" dirty="0" err="1">
                <a:solidFill>
                  <a:srgbClr val="94A3B8"/>
                </a:solidFill>
                <a:latin typeface="Inter"/>
              </a:rPr>
              <a:t>definición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8000" y="4148137"/>
            <a:ext cx="3663999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Formato Editable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9875" y="4424362"/>
            <a:ext cx="32257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Estructura libre para modificar textos, colores, capturas y notas de exposición.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1216</Words>
  <Application>Microsoft Macintosh PowerPoint</Application>
  <PresentationFormat>Widescreen</PresentationFormat>
  <Paragraphs>202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JetBrains Mono</vt:lpstr>
      <vt:lpstr>Arial</vt:lpstr>
      <vt:lpstr>Plus Jakarta Sans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Miguel Angel Holguin Bustamante</cp:lastModifiedBy>
  <cp:revision>2</cp:revision>
  <dcterms:created xsi:type="dcterms:W3CDTF">2013-01-27T09:14:16Z</dcterms:created>
  <dcterms:modified xsi:type="dcterms:W3CDTF">2026-09-26T12:32:16Z</dcterms:modified>
  <cp:category/>
</cp:coreProperties>
</file>